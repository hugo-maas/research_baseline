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Lst>
  <p:notesMasterIdLst>
    <p:notesMasterId r:id="rId23"/>
  </p:notesMasterIdLst>
  <p:handoutMasterIdLst>
    <p:handoutMasterId r:id="rId24"/>
  </p:handoutMasterIdLst>
  <p:sldIdLst>
    <p:sldId id="9815" r:id="rId5"/>
    <p:sldId id="9803" r:id="rId6"/>
    <p:sldId id="276" r:id="rId7"/>
    <p:sldId id="265" r:id="rId8"/>
    <p:sldId id="273" r:id="rId9"/>
    <p:sldId id="2145705943" r:id="rId10"/>
    <p:sldId id="2145705934" r:id="rId11"/>
    <p:sldId id="2145705930" r:id="rId12"/>
    <p:sldId id="2145705933" r:id="rId13"/>
    <p:sldId id="2145705940" r:id="rId14"/>
    <p:sldId id="2145705935" r:id="rId15"/>
    <p:sldId id="2145705937" r:id="rId16"/>
    <p:sldId id="2145705938" r:id="rId17"/>
    <p:sldId id="2145705941" r:id="rId18"/>
    <p:sldId id="272" r:id="rId19"/>
    <p:sldId id="256" r:id="rId20"/>
    <p:sldId id="2145705928" r:id="rId21"/>
    <p:sldId id="2145705942" r:id="rId22"/>
  </p:sldIdLst>
  <p:sldSz cx="12192000" cy="6858000"/>
  <p:notesSz cx="6858000" cy="9144000"/>
  <p:embeddedFontLst>
    <p:embeddedFont>
      <p:font typeface="Boehringer Forward Head" panose="020B0604020202020204" charset="0"/>
      <p:regular r:id="rId25"/>
      <p:bold r:id="rId26"/>
      <p:italic r:id="rId27"/>
      <p:boldItalic r:id="rId28"/>
    </p:embeddedFont>
    <p:embeddedFont>
      <p:font typeface="Boehringer Forward Text" panose="020B0604020202020204" charset="0"/>
      <p:regular r:id="rId29"/>
      <p:bold r:id="rId30"/>
      <p:italic r:id="rId31"/>
      <p:boldItalic r:id="rId32"/>
    </p:embeddedFont>
  </p:embeddedFontLst>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to-slides" id="{AA08E66F-718D-4436-8623-AEBA27634B0F}">
          <p14:sldIdLst/>
        </p14:section>
        <p14:section name="Master Layouts" id="{F6135164-930C-4F17-8810-A4D7425EDECA}">
          <p14:sldIdLst>
            <p14:sldId id="9815"/>
            <p14:sldId id="9803"/>
            <p14:sldId id="276"/>
            <p14:sldId id="265"/>
            <p14:sldId id="273"/>
            <p14:sldId id="2145705943"/>
            <p14:sldId id="2145705934"/>
            <p14:sldId id="2145705930"/>
            <p14:sldId id="2145705933"/>
            <p14:sldId id="2145705940"/>
            <p14:sldId id="2145705935"/>
            <p14:sldId id="2145705937"/>
            <p14:sldId id="2145705938"/>
            <p14:sldId id="2145705941"/>
            <p14:sldId id="272"/>
            <p14:sldId id="256"/>
            <p14:sldId id="2145705928"/>
            <p14:sldId id="214570594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Kunz,Dr.,Christina (TMCP ClinPh) BIP-DE-B" initials="KB" lastIdx="2" clrIdx="6">
    <p:extLst>
      <p:ext uri="{19B8F6BF-5375-455C-9EA6-DF929625EA0E}">
        <p15:presenceInfo xmlns:p15="http://schemas.microsoft.com/office/powerpoint/2012/main" userId="S::christina.kunz@boehringer-ingelheim.com::02e4aded-7857-4986-a5d1-8d9d302ecef0" providerId="AD"/>
      </p:ext>
    </p:extLst>
  </p:cmAuthor>
  <p:cmAuthor id="1" name=" " initials="CV" lastIdx="3" clrIdx="0">
    <p:extLst>
      <p:ext uri="{19B8F6BF-5375-455C-9EA6-DF929625EA0E}">
        <p15:presenceInfo xmlns:p15="http://schemas.microsoft.com/office/powerpoint/2012/main" userId=" " providerId="None"/>
      </p:ext>
    </p:extLst>
  </p:cmAuthor>
  <p:cmAuthor id="8" name="Schmid,Dr.,Ulrike (TMCP ClinPh) BIP-DE-B" initials="SB" lastIdx="2" clrIdx="7">
    <p:extLst>
      <p:ext uri="{19B8F6BF-5375-455C-9EA6-DF929625EA0E}">
        <p15:presenceInfo xmlns:p15="http://schemas.microsoft.com/office/powerpoint/2012/main" userId="S::ulrike_1.schmid@boehringer-ingelheim.com::79bf9a69-c773-4c96-ae22-afbbf247bf23" providerId="AD"/>
      </p:ext>
    </p:extLst>
  </p:cmAuthor>
  <p:cmAuthor id="2" name="Woelke,Dr.,Stefan (TMCP ClinPh) BIP-DE-B" initials="W(CBDB" lastIdx="2" clrIdx="1">
    <p:extLst>
      <p:ext uri="{19B8F6BF-5375-455C-9EA6-DF929625EA0E}">
        <p15:presenceInfo xmlns:p15="http://schemas.microsoft.com/office/powerpoint/2012/main" userId="S::stefan.woelke@boehringer-ingelheim.com::880ef48e-380a-491d-839f-f6be04c84b0f" providerId="AD"/>
      </p:ext>
    </p:extLst>
  </p:cmAuthor>
  <p:cmAuthor id="9" name="Niebecker,Dr.,Ronald (TMCP ClinPh) BIP-DE-B" initials="NB" lastIdx="1" clrIdx="8">
    <p:extLst>
      <p:ext uri="{19B8F6BF-5375-455C-9EA6-DF929625EA0E}">
        <p15:presenceInfo xmlns:p15="http://schemas.microsoft.com/office/powerpoint/2012/main" userId="S::ronald.niebecker@boehringer-ingelheim.com::30fb2f25-78e5-472b-87c9-72bf8b1964aa" providerId="AD"/>
      </p:ext>
    </p:extLst>
  </p:cmAuthor>
  <p:cmAuthor id="3" name="Glund,Dr.,Stephan (TMCP ClinPh) BIP-DE-B" initials="SG" lastIdx="40" clrIdx="2">
    <p:extLst>
      <p:ext uri="{19B8F6BF-5375-455C-9EA6-DF929625EA0E}">
        <p15:presenceInfo xmlns:p15="http://schemas.microsoft.com/office/powerpoint/2012/main" userId="S::stephan.glund@boehringer-ingelheim.com::28b30110-19ef-4933-9d71-defb92a61ab7" providerId="AD"/>
      </p:ext>
    </p:extLst>
  </p:cmAuthor>
  <p:cmAuthor id="4" name="Haertter,Dr.,Sebastian (TMCP ClinPh) BIP-DE-I" initials="HB" lastIdx="4" clrIdx="3">
    <p:extLst>
      <p:ext uri="{19B8F6BF-5375-455C-9EA6-DF929625EA0E}">
        <p15:presenceInfo xmlns:p15="http://schemas.microsoft.com/office/powerpoint/2012/main" userId="S::sebastian.haertter@boehringer-ingelheim.com::3e143e3e-15cc-42a8-ba69-655e7d019132" providerId="AD"/>
      </p:ext>
    </p:extLst>
  </p:cmAuthor>
  <p:cmAuthor id="5" name="Tsuda,Dr.,Yasuhiro (TMCP ClinPh) NBI-JP-T" initials="YT" lastIdx="3" clrIdx="4">
    <p:extLst>
      <p:ext uri="{19B8F6BF-5375-455C-9EA6-DF929625EA0E}">
        <p15:presenceInfo xmlns:p15="http://schemas.microsoft.com/office/powerpoint/2012/main" userId="S::yasuhiro.tsuda@boehringer-ingelheim.com::b34f0bc7-0e5e-4e0b-9cc0-46b3b838edd4" providerId="AD"/>
      </p:ext>
    </p:extLst>
  </p:cmAuthor>
  <p:cmAuthor id="6" name="Schaible,Dr.,Jennifer (TMCP ClinPh) BIP-DE-B" initials="SB" lastIdx="4" clrIdx="5">
    <p:extLst>
      <p:ext uri="{19B8F6BF-5375-455C-9EA6-DF929625EA0E}">
        <p15:presenceInfo xmlns:p15="http://schemas.microsoft.com/office/powerpoint/2012/main" userId="S::jennifer.schaible@boehringer-ingelheim.com::51893bea-1dc1-4235-8659-9ac276c1b5f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howGuides="1">
      <p:cViewPr varScale="1">
        <p:scale>
          <a:sx n="66" d="100"/>
          <a:sy n="66" d="100"/>
        </p:scale>
        <p:origin x="0" y="0"/>
      </p:cViewPr>
      <p:guideLst/>
    </p:cSldViewPr>
  </p:slide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a:solidFill>
                <a:schemeClr val="bg2"/>
              </a:solidFill>
            </a:endParaRPr>
          </a:p>
        </p:txBody>
      </p:sp>
    </p:spTree>
    <p:extLst>
      <p:ext uri="{BB962C8B-B14F-4D97-AF65-F5344CB8AC3E}">
        <p14:creationId xmlns:p14="http://schemas.microsoft.com/office/powerpoint/2010/main" val="133187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3</a:t>
            </a:fld>
            <a:endParaRPr lang="en-US" sz="800">
              <a:solidFill>
                <a:schemeClr val="bg2"/>
              </a:solidFill>
            </a:endParaRPr>
          </a:p>
        </p:txBody>
      </p:sp>
    </p:spTree>
    <p:extLst>
      <p:ext uri="{BB962C8B-B14F-4D97-AF65-F5344CB8AC3E}">
        <p14:creationId xmlns:p14="http://schemas.microsoft.com/office/powerpoint/2010/main" val="18103032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ClinPharm Project Overview [target]    |    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ClinPharm Project Overview [target]    |    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ClinPharm Project Overview [target]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ClinPharm Project Overview [target]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ClinPharm Project Overview [target]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ClinPharm Project Overview [target]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ClinPharm Project Overview [target]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ClinPharm Project Overview [target]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ClinPharm Project Overview [target]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ClinPharm Project Overview [target]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ClinPharm Project Overview [target]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ClinPharm Project Overview [target]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ClinPharm Project Overview [target]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ClinPharm Project Overview [target]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ClinPharm Project Overview [target]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ClinPharm Project Overview [target]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ClinPharm Project Overview [target]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ClinPharm Project Overview [target]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ClinPharm Project Overview [target]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ClinPharm Project Overview [target]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ClinPharm Project Overview [target]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ClinPharm Project Overview [target]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ClinPharm Project Overview [target]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ClinPharm Project Overview [target]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ClinPharm Project Overview [target]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ClinPharm Project Overview [target]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ClinPharm Project Overview [target]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ClinPharm Project Overview [target]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ClinPharm Project Overview [target]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ClinPharm Project Overview [target]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ClinPharm Project Overview [target]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ClinPharm Project Overview [target]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ClinPharm Project Overview [target]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ClinPharm Project Overview [target]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boehringer.sharepoint.com/:f:/r/sites/TMCPClinPharm/Shared%20Documents/Therapeutic%20Areas?csf=1&amp;web=1&amp;e=M3g5d2" TargetMode="Externa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boehringer.sharepoint.com/sites/TMCPHub/TMCP%20Intranet%20Content/Forms/AllItems.aspx?FolderCTID=0x0120002D0644D41275044399D5EC327E32FFF2&amp;id=%2Fsites%2FTMCPHub%2FTMCP%20Intranet%20Content%2FLearning%2Dand%2DOnboarding%2DTMCP%2FLearning%2FTranslational%5FPlan" TargetMode="External"/><Relationship Id="rId7" Type="http://schemas.openxmlformats.org/officeDocument/2006/relationships/hyperlink" Target="https://boehringer.sharepoint.com/:p:/r/sites/TMCPClinPharm/Shared%20Documents/Education%20%26%20Trainings/Trainings%20for%20Interfaces/2024_CNS_SEM/SEM_CNS_Deliverables%20and%20Workpackages%20ClinPharm%20and%20PMx_as_presented.pptx?d=w1670017e0e144edc83eab3223593ff07&amp;csf=1&amp;web=1&amp;e=Y5fJaO" TargetMode="External"/><Relationship Id="rId2" Type="http://schemas.openxmlformats.org/officeDocument/2006/relationships/hyperlink" Target="https://boehringer.sharepoint.com/:f:/r/sites/z365tmcpbiomarkermilestoneplanning/Shared%20Documents/General/04_Translational%20Plan?csf=1&amp;web=1&amp;e=eN581u" TargetMode="External"/><Relationship Id="rId1" Type="http://schemas.openxmlformats.org/officeDocument/2006/relationships/slideLayout" Target="../slideLayouts/slideLayout11.xml"/><Relationship Id="rId6" Type="http://schemas.openxmlformats.org/officeDocument/2006/relationships/hyperlink" Target="https://boehringer.sharepoint.com/:p:/r/sites/TMCPClinPharm/Shared%20Documents/Scientific%20Topics/Clin_Pharm_Deliverables/2024_05_ClinPharm_Deliverables_Proposal_Final.pptx?d=wd880f5a9aad34b1b855bcddef2449570&amp;csf=1&amp;web=1&amp;e=8obdQa" TargetMode="External"/><Relationship Id="rId5" Type="http://schemas.openxmlformats.org/officeDocument/2006/relationships/hyperlink" Target="https://boehringer.sharepoint.com/:p:/r/sites/TMCPClinPharm/Shared%20Documents/Scientific%20Topics/ClinPharm%20Strategy/2023_05_Clinical_Pharmacology_Strategy_Presentation_Final_To_Be_Used.pptx?d=w56e7e3cec37b489fa95cba4867dd2285&amp;csf=1&amp;web=1&amp;e=OIqP3o" TargetMode="External"/><Relationship Id="rId4" Type="http://schemas.openxmlformats.org/officeDocument/2006/relationships/hyperlink" Target="https://boehringer.sharepoint.com/:p:/r/sites/mybi_medicine_CDO/_layouts/15/Doc.aspx?sourcedoc=%7B82B9ED83-E6E5-4B6A-A421-4E8C885BEB52%7D&amp;file=2024_02_12_PMxDeliverablesAgileWorkingModel_v2%201_CB.pptx&amp;action=edit&amp;mobileredirect=true&amp;isSPOFile=1&amp;xsdata=MDV8MDJ8fDUzYTVhZTA2NTlmMTQ0MThjMmQ2MDhkZDQxNDA4NDIyfGUxZjhhZjg2ZWU5NTQ3MThiZDBkMzc1YjM3MzY2YzgzfDB8MHw2Mzg3Mzg0Njc1MDcwNjE0NjJ8VW5rbm93bnxWR1ZoYlhOVFpXTjFjbWwwZVZObGNuWnBZMlY4ZXlKV0lqb2lNQzR3TGpBd01EQWlMQ0pRSWpvaVYybHVNeklpTENKQlRpSTZJazkwYUdWeUlpd2lWMVFpT2pFeGZRPT18MXxMMk5vWVhSekx6RTVPbTFsWlhScGJtZGZXV3BaTWsxVVJUSlpiVlYwV2tkVk1WbDVNREJOYWxreFRGZEtiVTU2VVhST2FrMHlUVVJXYVUxVWEzcE9WMUY1UUhSb2NtVmhaQzUyTWk5dFpYTnpZV2RsY3k4eE56TTRNalE1T1RRNU56QXh8ZDczZTk4NzRkMDc3NDlmNmMyZDYwOGRkNDE0MDg0MjJ8YWNjZWFmYTNjZTQ3NDQ2YzhiMzkyZTNiZmIzYTRlNmE%3D&amp;sdata=SkVxZjMxc1FzcjdYN2lNVHUzVkhMVTk1TnBuVmRhVDVPMDByUGNBeWlSdz0%3D&amp;ovuser=e1f8af86-ee95-4718-bd0d-375b37366c83%2Cstephan.glund%40boehringer-ingelheim.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C04FC7DF-2EF9-CCFB-9B81-432F22A4E852}"/>
              </a:ext>
            </a:extLst>
          </p:cNvPr>
          <p:cNvSpPr>
            <a:spLocks noGrp="1"/>
          </p:cNvSpPr>
          <p:nvPr>
            <p:ph type="title"/>
          </p:nvPr>
        </p:nvSpPr>
        <p:spPr/>
        <p:txBody>
          <a:bodyPr/>
          <a:lstStyle/>
          <a:p>
            <a:r>
              <a:rPr lang="de-DE"/>
              <a:t>General </a:t>
            </a:r>
            <a:r>
              <a:rPr lang="de-DE" err="1"/>
              <a:t>Guidance</a:t>
            </a:r>
            <a:r>
              <a:rPr lang="de-DE"/>
              <a:t> </a:t>
            </a:r>
            <a:r>
              <a:rPr lang="de-DE" sz="1600" b="0" i="1"/>
              <a:t>(Delete, </a:t>
            </a:r>
            <a:r>
              <a:rPr lang="de-DE" sz="1600" b="0" i="1" err="1"/>
              <a:t>when</a:t>
            </a:r>
            <a:r>
              <a:rPr lang="de-DE" sz="1600" b="0" i="1"/>
              <a:t> </a:t>
            </a:r>
            <a:r>
              <a:rPr lang="de-DE" sz="1600" b="0" i="1" err="1"/>
              <a:t>adapting</a:t>
            </a:r>
            <a:r>
              <a:rPr lang="de-DE" sz="1600" b="0" i="1"/>
              <a:t> </a:t>
            </a:r>
            <a:r>
              <a:rPr lang="de-DE" sz="1600" b="0" i="1" err="1"/>
              <a:t>to</a:t>
            </a:r>
            <a:r>
              <a:rPr lang="de-DE" sz="1600" b="0" i="1"/>
              <a:t> </a:t>
            </a:r>
            <a:r>
              <a:rPr lang="de-DE" sz="1600" b="0" i="1" err="1"/>
              <a:t>your</a:t>
            </a:r>
            <a:r>
              <a:rPr lang="de-DE" sz="1600" b="0" i="1"/>
              <a:t> </a:t>
            </a:r>
            <a:r>
              <a:rPr lang="de-DE" sz="1600" b="0" i="1" err="1"/>
              <a:t>project</a:t>
            </a:r>
            <a:r>
              <a:rPr lang="de-DE" sz="1600" b="0" i="1"/>
              <a:t>)</a:t>
            </a:r>
            <a:endParaRPr lang="de-DE" b="0" i="1"/>
          </a:p>
        </p:txBody>
      </p:sp>
      <p:sp>
        <p:nvSpPr>
          <p:cNvPr id="6" name="Inhaltsplatzhalter 5">
            <a:extLst>
              <a:ext uri="{FF2B5EF4-FFF2-40B4-BE49-F238E27FC236}">
                <a16:creationId xmlns:a16="http://schemas.microsoft.com/office/drawing/2014/main" id="{D7D0481C-3B21-0FB7-2262-6E2702AC4733}"/>
              </a:ext>
            </a:extLst>
          </p:cNvPr>
          <p:cNvSpPr>
            <a:spLocks noGrp="1"/>
          </p:cNvSpPr>
          <p:nvPr>
            <p:ph idx="1"/>
          </p:nvPr>
        </p:nvSpPr>
        <p:spPr/>
        <p:txBody>
          <a:bodyPr/>
          <a:lstStyle/>
          <a:p>
            <a:r>
              <a:rPr lang="de-DE"/>
              <a:t>Project </a:t>
            </a:r>
            <a:r>
              <a:rPr lang="de-DE" err="1"/>
              <a:t>overviews</a:t>
            </a:r>
            <a:r>
              <a:rPr lang="de-DE"/>
              <a:t> </a:t>
            </a:r>
            <a:r>
              <a:rPr lang="de-DE" err="1"/>
              <a:t>are</a:t>
            </a:r>
            <a:r>
              <a:rPr lang="de-DE"/>
              <a:t> </a:t>
            </a:r>
            <a:r>
              <a:rPr lang="de-DE" err="1"/>
              <a:t>stored</a:t>
            </a:r>
            <a:r>
              <a:rPr lang="de-DE"/>
              <a:t> in </a:t>
            </a:r>
            <a:r>
              <a:rPr lang="de-DE" err="1"/>
              <a:t>the</a:t>
            </a:r>
            <a:r>
              <a:rPr lang="de-DE"/>
              <a:t> Clinical </a:t>
            </a:r>
            <a:r>
              <a:rPr lang="de-DE" err="1"/>
              <a:t>Pharmacology</a:t>
            </a:r>
            <a:r>
              <a:rPr lang="de-DE"/>
              <a:t> </a:t>
            </a:r>
            <a:r>
              <a:rPr lang="de-DE" err="1"/>
              <a:t>Sharepoint</a:t>
            </a:r>
            <a:r>
              <a:rPr lang="de-DE"/>
              <a:t> (</a:t>
            </a:r>
            <a:r>
              <a:rPr kumimoji="0" lang="de-DE" altLang="de-DE" sz="1600" b="0" i="0" u="none" strike="noStrike" cap="none" normalizeH="0" baseline="0" err="1">
                <a:ln>
                  <a:noFill/>
                </a:ln>
                <a:solidFill>
                  <a:schemeClr val="tx1"/>
                </a:solidFill>
                <a:effectLst/>
                <a:latin typeface="Arial" panose="020B0604020202020204" pitchFamily="34" charset="0"/>
                <a:hlinkClick r:id="rId2"/>
              </a:rPr>
              <a:t>Therapeutic</a:t>
            </a:r>
            <a:r>
              <a:rPr kumimoji="0" lang="de-DE" altLang="de-DE" sz="1600" b="0" i="0" u="none" strike="noStrike" cap="none" normalizeH="0" baseline="0">
                <a:ln>
                  <a:noFill/>
                </a:ln>
                <a:solidFill>
                  <a:schemeClr val="tx1"/>
                </a:solidFill>
                <a:effectLst/>
                <a:latin typeface="Arial" panose="020B0604020202020204" pitchFamily="34" charset="0"/>
                <a:hlinkClick r:id="rId2"/>
              </a:rPr>
              <a:t> Areas</a:t>
            </a:r>
            <a:r>
              <a:rPr lang="de-DE"/>
              <a:t>):</a:t>
            </a:r>
          </a:p>
          <a:p>
            <a:pPr lvl="1"/>
            <a:r>
              <a:rPr lang="de-DE" b="1"/>
              <a:t>Format: </a:t>
            </a:r>
            <a:r>
              <a:rPr lang="de-DE"/>
              <a:t>Dokumente\</a:t>
            </a:r>
            <a:r>
              <a:rPr lang="de-DE" err="1"/>
              <a:t>Therapeutic</a:t>
            </a:r>
            <a:r>
              <a:rPr lang="de-DE"/>
              <a:t> Areas</a:t>
            </a:r>
            <a:r>
              <a:rPr lang="de-DE" i="1"/>
              <a:t>\[</a:t>
            </a:r>
            <a:r>
              <a:rPr lang="de-DE" i="1" err="1"/>
              <a:t>your</a:t>
            </a:r>
            <a:r>
              <a:rPr lang="de-DE" i="1"/>
              <a:t> TA]</a:t>
            </a:r>
            <a:r>
              <a:rPr lang="de-DE"/>
              <a:t>\</a:t>
            </a:r>
            <a:r>
              <a:rPr lang="de-DE" err="1"/>
              <a:t>Project_Overviews</a:t>
            </a:r>
            <a:r>
              <a:rPr lang="de-DE"/>
              <a:t>\</a:t>
            </a:r>
            <a:r>
              <a:rPr lang="de-DE" i="1"/>
              <a:t>[target]</a:t>
            </a:r>
            <a:r>
              <a:rPr lang="de-DE"/>
              <a:t>-project-overview-[yearQX].pptx</a:t>
            </a:r>
          </a:p>
          <a:p>
            <a:pPr lvl="1"/>
            <a:r>
              <a:rPr lang="de-DE" b="1" err="1"/>
              <a:t>Example</a:t>
            </a:r>
            <a:r>
              <a:rPr lang="de-DE" b="1"/>
              <a:t>: </a:t>
            </a:r>
            <a:r>
              <a:rPr lang="de-DE"/>
              <a:t>Dokumente\</a:t>
            </a:r>
            <a:r>
              <a:rPr lang="de-DE" err="1"/>
              <a:t>Therapeutic</a:t>
            </a:r>
            <a:r>
              <a:rPr lang="de-DE"/>
              <a:t> Areas\CREA\</a:t>
            </a:r>
            <a:r>
              <a:rPr lang="de-DE" err="1"/>
              <a:t>Project_Overviews</a:t>
            </a:r>
            <a:r>
              <a:rPr lang="de-DE"/>
              <a:t>\SSTR4-project-overview-2025Q1</a:t>
            </a:r>
          </a:p>
          <a:p>
            <a:r>
              <a:rPr lang="de-DE"/>
              <a:t>Slides in </a:t>
            </a:r>
            <a:r>
              <a:rPr lang="de-DE" err="1"/>
              <a:t>this</a:t>
            </a:r>
            <a:r>
              <a:rPr lang="de-DE"/>
              <a:t> </a:t>
            </a:r>
            <a:r>
              <a:rPr lang="de-DE" err="1"/>
              <a:t>template</a:t>
            </a:r>
            <a:r>
              <a:rPr lang="de-DE"/>
              <a:t> </a:t>
            </a:r>
            <a:r>
              <a:rPr lang="de-DE" err="1"/>
              <a:t>should</a:t>
            </a:r>
            <a:r>
              <a:rPr lang="de-DE"/>
              <a:t> </a:t>
            </a:r>
            <a:r>
              <a:rPr lang="de-DE" err="1"/>
              <a:t>be</a:t>
            </a:r>
            <a:r>
              <a:rPr lang="de-DE"/>
              <a:t> </a:t>
            </a:r>
            <a:r>
              <a:rPr lang="de-DE" err="1"/>
              <a:t>seen</a:t>
            </a:r>
            <a:r>
              <a:rPr lang="de-DE"/>
              <a:t> </a:t>
            </a:r>
            <a:r>
              <a:rPr lang="de-DE" err="1"/>
              <a:t>as</a:t>
            </a:r>
            <a:r>
              <a:rPr lang="de-DE"/>
              <a:t> </a:t>
            </a:r>
            <a:r>
              <a:rPr lang="de-DE" err="1"/>
              <a:t>guidance</a:t>
            </a:r>
            <a:r>
              <a:rPr lang="de-DE"/>
              <a:t> on </a:t>
            </a:r>
            <a:r>
              <a:rPr lang="de-DE" err="1"/>
              <a:t>content</a:t>
            </a:r>
            <a:r>
              <a:rPr lang="de-DE"/>
              <a:t>, not </a:t>
            </a:r>
            <a:r>
              <a:rPr lang="de-DE" err="1"/>
              <a:t>necessarily</a:t>
            </a:r>
            <a:r>
              <a:rPr lang="de-DE"/>
              <a:t> </a:t>
            </a:r>
            <a:r>
              <a:rPr lang="de-DE" err="1"/>
              <a:t>format</a:t>
            </a:r>
            <a:r>
              <a:rPr lang="de-DE"/>
              <a:t> (i.e. </a:t>
            </a:r>
            <a:r>
              <a:rPr lang="de-DE" err="1"/>
              <a:t>feel</a:t>
            </a:r>
            <a:r>
              <a:rPr lang="de-DE"/>
              <a:t> </a:t>
            </a:r>
            <a:r>
              <a:rPr lang="de-DE" err="1"/>
              <a:t>free</a:t>
            </a:r>
            <a:r>
              <a:rPr lang="de-DE"/>
              <a:t> </a:t>
            </a:r>
            <a:r>
              <a:rPr lang="de-DE" err="1"/>
              <a:t>to</a:t>
            </a:r>
            <a:r>
              <a:rPr lang="de-DE"/>
              <a:t> </a:t>
            </a:r>
            <a:r>
              <a:rPr lang="de-DE" err="1"/>
              <a:t>use</a:t>
            </a:r>
            <a:r>
              <a:rPr lang="de-DE"/>
              <a:t>/</a:t>
            </a:r>
            <a:r>
              <a:rPr lang="de-DE" err="1"/>
              <a:t>include</a:t>
            </a:r>
            <a:r>
              <a:rPr lang="de-DE"/>
              <a:t> </a:t>
            </a:r>
            <a:r>
              <a:rPr lang="de-DE" err="1"/>
              <a:t>appropriate</a:t>
            </a:r>
            <a:r>
              <a:rPr lang="de-DE"/>
              <a:t> </a:t>
            </a:r>
            <a:r>
              <a:rPr lang="de-DE" err="1"/>
              <a:t>slides</a:t>
            </a:r>
            <a:r>
              <a:rPr lang="de-DE"/>
              <a:t> </a:t>
            </a:r>
            <a:r>
              <a:rPr lang="de-DE" err="1"/>
              <a:t>from</a:t>
            </a:r>
            <a:r>
              <a:rPr lang="de-DE"/>
              <a:t> </a:t>
            </a:r>
            <a:r>
              <a:rPr lang="de-DE" err="1"/>
              <a:t>project</a:t>
            </a:r>
            <a:r>
              <a:rPr lang="de-DE"/>
              <a:t> </a:t>
            </a:r>
            <a:r>
              <a:rPr lang="de-DE" err="1"/>
              <a:t>presentations</a:t>
            </a:r>
            <a:r>
              <a:rPr lang="de-DE"/>
              <a:t> </a:t>
            </a:r>
            <a:r>
              <a:rPr lang="de-DE" err="1"/>
              <a:t>that</a:t>
            </a:r>
            <a:r>
              <a:rPr lang="de-DE"/>
              <a:t> </a:t>
            </a:r>
            <a:r>
              <a:rPr lang="de-DE" err="1"/>
              <a:t>may</a:t>
            </a:r>
            <a:r>
              <a:rPr lang="de-DE"/>
              <a:t> </a:t>
            </a:r>
            <a:r>
              <a:rPr lang="de-DE" err="1"/>
              <a:t>come</a:t>
            </a:r>
            <a:r>
              <a:rPr lang="de-DE"/>
              <a:t> in </a:t>
            </a:r>
            <a:r>
              <a:rPr lang="de-DE" err="1"/>
              <a:t>another</a:t>
            </a:r>
            <a:r>
              <a:rPr lang="de-DE"/>
              <a:t> </a:t>
            </a:r>
            <a:r>
              <a:rPr lang="de-DE" err="1"/>
              <a:t>format</a:t>
            </a:r>
            <a:r>
              <a:rPr lang="de-DE"/>
              <a:t>.</a:t>
            </a:r>
          </a:p>
          <a:p>
            <a:r>
              <a:rPr lang="de-DE"/>
              <a:t>Timing: Updates </a:t>
            </a:r>
            <a:r>
              <a:rPr lang="de-DE" err="1"/>
              <a:t>to</a:t>
            </a:r>
            <a:r>
              <a:rPr lang="de-DE"/>
              <a:t> </a:t>
            </a:r>
            <a:r>
              <a:rPr lang="de-DE" err="1"/>
              <a:t>be</a:t>
            </a:r>
            <a:r>
              <a:rPr lang="de-DE"/>
              <a:t> </a:t>
            </a:r>
            <a:r>
              <a:rPr lang="de-DE" err="1"/>
              <a:t>aligned</a:t>
            </a:r>
            <a:r>
              <a:rPr lang="de-DE"/>
              <a:t> </a:t>
            </a:r>
            <a:r>
              <a:rPr lang="de-DE" err="1"/>
              <a:t>with</a:t>
            </a:r>
            <a:r>
              <a:rPr lang="de-DE"/>
              <a:t> IUPCs</a:t>
            </a:r>
          </a:p>
          <a:p>
            <a:endParaRPr lang="de-DE"/>
          </a:p>
        </p:txBody>
      </p:sp>
      <p:sp>
        <p:nvSpPr>
          <p:cNvPr id="7" name="Textplatzhalter 6">
            <a:extLst>
              <a:ext uri="{FF2B5EF4-FFF2-40B4-BE49-F238E27FC236}">
                <a16:creationId xmlns:a16="http://schemas.microsoft.com/office/drawing/2014/main" id="{EA5A0F04-5C25-E985-2C04-783DEA18581B}"/>
              </a:ext>
            </a:extLst>
          </p:cNvPr>
          <p:cNvSpPr>
            <a:spLocks noGrp="1"/>
          </p:cNvSpPr>
          <p:nvPr>
            <p:ph type="body" sz="quarter" idx="13"/>
          </p:nvPr>
        </p:nvSpPr>
        <p:spPr/>
        <p:txBody>
          <a:bodyPr/>
          <a:lstStyle/>
          <a:p>
            <a:endParaRPr lang="de-DE"/>
          </a:p>
        </p:txBody>
      </p:sp>
      <p:sp>
        <p:nvSpPr>
          <p:cNvPr id="4" name="Fußzeilenplatzhalter 3">
            <a:extLst>
              <a:ext uri="{FF2B5EF4-FFF2-40B4-BE49-F238E27FC236}">
                <a16:creationId xmlns:a16="http://schemas.microsoft.com/office/drawing/2014/main" id="{D9DC0933-D2A0-CA2E-8477-224CD0E6A37B}"/>
              </a:ext>
            </a:extLst>
          </p:cNvPr>
          <p:cNvSpPr>
            <a:spLocks noGrp="1"/>
          </p:cNvSpPr>
          <p:nvPr>
            <p:ph type="ftr" sz="quarter" idx="19"/>
          </p:nvPr>
        </p:nvSpPr>
        <p:spPr/>
        <p:txBody>
          <a:bodyPr/>
          <a:lstStyle/>
          <a:p>
            <a:r>
              <a:rPr lang="en-US"/>
              <a:t>ClinPharm Project Overview [target]    |    ONLY FOR INTERNAL USE</a:t>
            </a:r>
          </a:p>
        </p:txBody>
      </p:sp>
      <p:sp>
        <p:nvSpPr>
          <p:cNvPr id="2" name="Foliennummernplatzhalter 1">
            <a:extLst>
              <a:ext uri="{FF2B5EF4-FFF2-40B4-BE49-F238E27FC236}">
                <a16:creationId xmlns:a16="http://schemas.microsoft.com/office/drawing/2014/main" id="{E66E659B-AE5F-90ED-B602-46F206A9B8D0}"/>
              </a:ext>
            </a:extLst>
          </p:cNvPr>
          <p:cNvSpPr>
            <a:spLocks noGrp="1"/>
          </p:cNvSpPr>
          <p:nvPr>
            <p:ph type="sldNum" sz="quarter" idx="20"/>
          </p:nvPr>
        </p:nvSpPr>
        <p:spPr/>
        <p:txBody>
          <a:bodyPr/>
          <a:lstStyle/>
          <a:p>
            <a:fld id="{DF4E8F9F-5B1F-4F5B-BE49-3245D8C18D9F}" type="slidenum">
              <a:rPr lang="en-US" smtClean="0"/>
              <a:pPr/>
              <a:t>1</a:t>
            </a:fld>
            <a:endParaRPr lang="en-US"/>
          </a:p>
        </p:txBody>
      </p:sp>
    </p:spTree>
    <p:extLst>
      <p:ext uri="{BB962C8B-B14F-4D97-AF65-F5344CB8AC3E}">
        <p14:creationId xmlns:p14="http://schemas.microsoft.com/office/powerpoint/2010/main" val="2366605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1995316"/>
            <a:ext cx="10927702" cy="2225684"/>
          </a:xfrm>
        </p:spPr>
        <p:txBody>
          <a:bodyPr/>
          <a:lstStyle/>
          <a:p>
            <a:r>
              <a:rPr lang="en-US"/>
              <a:t>xxxx.P01</a:t>
            </a:r>
            <a:br>
              <a:rPr lang="en-US"/>
            </a:br>
            <a:r>
              <a:rPr lang="en-US" err="1"/>
              <a:t>xxxxxx</a:t>
            </a:r>
            <a:r>
              <a:rPr lang="en-US"/>
              <a:t> [Indication]</a:t>
            </a:r>
            <a:endParaRPr lang="en-US">
              <a:solidFill>
                <a:srgbClr val="08312A"/>
              </a:solidFill>
              <a:latin typeface="Boehringer Forward Head"/>
            </a:endParaRP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1243473"/>
          </a:xfrm>
        </p:spPr>
        <p:txBody>
          <a:bodyPr vert="horz" lIns="0" tIns="0" rIns="0" bIns="0" rtlCol="0" anchor="t">
            <a:noAutofit/>
          </a:bodyPr>
          <a:lstStyle/>
          <a:p>
            <a:r>
              <a:rPr lang="en-US"/>
              <a:t>Project Overview &amp; Deliverables</a:t>
            </a:r>
          </a:p>
          <a:p>
            <a:pPr lvl="1"/>
            <a:r>
              <a:rPr lang="en-US" err="1"/>
              <a:t>PMxL</a:t>
            </a:r>
            <a:r>
              <a:rPr lang="en-US"/>
              <a:t>: </a:t>
            </a:r>
            <a:endParaRPr lang="en-US">
              <a:ea typeface="+mn-lt"/>
              <a:cs typeface="+mn-lt"/>
            </a:endParaRPr>
          </a:p>
          <a:p>
            <a:pPr lvl="1"/>
            <a:r>
              <a:rPr lang="en-US" err="1"/>
              <a:t>CPhL</a:t>
            </a:r>
            <a:r>
              <a:rPr lang="en-US"/>
              <a:t>:  </a:t>
            </a:r>
          </a:p>
          <a:p>
            <a:pPr lvl="1"/>
            <a:endParaRPr lang="en-US"/>
          </a:p>
          <a:p>
            <a:pPr lvl="1"/>
            <a:r>
              <a:rPr lang="en-US"/>
              <a:t>Last update: </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p:txBody>
          <a:bodyPr/>
          <a:lstStyle/>
          <a:p>
            <a:r>
              <a:rPr lang="en-US"/>
              <a:t>ClinPharm Project Overview [target]    |    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Tree>
    <p:extLst>
      <p:ext uri="{BB962C8B-B14F-4D97-AF65-F5344CB8AC3E}">
        <p14:creationId xmlns:p14="http://schemas.microsoft.com/office/powerpoint/2010/main" val="2201124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a:t>xxxx.P01: </a:t>
            </a:r>
            <a:r>
              <a:rPr lang="en-US"/>
              <a:t>Overview</a:t>
            </a:r>
          </a:p>
        </p:txBody>
      </p:sp>
      <p:graphicFrame>
        <p:nvGraphicFramePr>
          <p:cNvPr id="11" name="Content Placeholder 6">
            <a:extLst>
              <a:ext uri="{FF2B5EF4-FFF2-40B4-BE49-F238E27FC236}">
                <a16:creationId xmlns:a16="http://schemas.microsoft.com/office/drawing/2014/main" id="{71614B38-3F2A-40CF-9C8F-92296E13E468}"/>
              </a:ext>
            </a:extLst>
          </p:cNvPr>
          <p:cNvGraphicFramePr>
            <a:graphicFrameLocks noGrp="1"/>
          </p:cNvGraphicFramePr>
          <p:nvPr>
            <p:ph idx="1"/>
            <p:extLst>
              <p:ext uri="{D42A27DB-BD31-4B8C-83A1-F6EECF244321}">
                <p14:modId xmlns:p14="http://schemas.microsoft.com/office/powerpoint/2010/main" val="1465769697"/>
              </p:ext>
            </p:extLst>
          </p:nvPr>
        </p:nvGraphicFramePr>
        <p:xfrm>
          <a:off x="479425" y="1412875"/>
          <a:ext cx="11233149" cy="3491834"/>
        </p:xfrm>
        <a:graphic>
          <a:graphicData uri="http://schemas.openxmlformats.org/drawingml/2006/table">
            <a:tbl>
              <a:tblPr firstRow="1" firstCol="1" bandRow="1">
                <a:tableStyleId>{6E25E649-3F16-4E02-A733-19D2CDBF48F0}</a:tableStyleId>
              </a:tblPr>
              <a:tblGrid>
                <a:gridCol w="2858548">
                  <a:extLst>
                    <a:ext uri="{9D8B030D-6E8A-4147-A177-3AD203B41FA5}">
                      <a16:colId xmlns:a16="http://schemas.microsoft.com/office/drawing/2014/main" val="1702491122"/>
                    </a:ext>
                  </a:extLst>
                </a:gridCol>
                <a:gridCol w="8374601">
                  <a:extLst>
                    <a:ext uri="{9D8B030D-6E8A-4147-A177-3AD203B41FA5}">
                      <a16:colId xmlns:a16="http://schemas.microsoft.com/office/drawing/2014/main" val="1090821771"/>
                    </a:ext>
                  </a:extLst>
                </a:gridCol>
              </a:tblGrid>
              <a:tr h="609600">
                <a:tc>
                  <a:txBody>
                    <a:bodyPr/>
                    <a:lstStyle/>
                    <a:p>
                      <a:pPr>
                        <a:spcAft>
                          <a:spcPts val="400"/>
                        </a:spcAft>
                      </a:pPr>
                      <a:r>
                        <a:rPr lang="en-US" sz="1400">
                          <a:solidFill>
                            <a:schemeClr val="tx1"/>
                          </a:solidFill>
                        </a:rPr>
                        <a:t>Compound </a:t>
                      </a:r>
                      <a:r>
                        <a:rPr lang="en-US" sz="1400" baseline="0">
                          <a:solidFill>
                            <a:schemeClr val="tx1"/>
                          </a:solidFill>
                        </a:rPr>
                        <a:t> &amp; </a:t>
                      </a:r>
                      <a:r>
                        <a:rPr lang="en-US" sz="1400">
                          <a:solidFill>
                            <a:schemeClr val="tx1"/>
                          </a:solidFill>
                        </a:rPr>
                        <a:t>Project Code</a:t>
                      </a:r>
                    </a:p>
                  </a:txBody>
                  <a:tcPr marL="121920" marR="121920" marT="60960" marB="60960" anchor="ctr">
                    <a:solidFill>
                      <a:schemeClr val="accent2"/>
                    </a:solidFill>
                  </a:tcPr>
                </a:tc>
                <a:tc>
                  <a:txBody>
                    <a:bodyPr/>
                    <a:lstStyle/>
                    <a:p>
                      <a:pPr algn="ctr"/>
                      <a:r>
                        <a:rPr lang="en-US" sz="1400">
                          <a:solidFill>
                            <a:schemeClr val="tx1"/>
                          </a:solidFill>
                        </a:rPr>
                        <a:t>BI [</a:t>
                      </a:r>
                      <a:r>
                        <a:rPr lang="en-US" sz="1400" err="1">
                          <a:solidFill>
                            <a:schemeClr val="tx1"/>
                          </a:solidFill>
                        </a:rPr>
                        <a:t>xxxxxxx</a:t>
                      </a:r>
                      <a:r>
                        <a:rPr lang="en-US" sz="1400">
                          <a:solidFill>
                            <a:schemeClr val="tx1"/>
                          </a:solidFill>
                        </a:rPr>
                        <a:t>]</a:t>
                      </a:r>
                      <a:r>
                        <a:rPr lang="en-US" sz="1400" baseline="0">
                          <a:solidFill>
                            <a:schemeClr val="tx1"/>
                          </a:solidFill>
                        </a:rPr>
                        <a:t> </a:t>
                      </a:r>
                      <a:r>
                        <a:rPr lang="en-US" sz="1400" b="1">
                          <a:solidFill>
                            <a:schemeClr val="tx1"/>
                          </a:solidFill>
                        </a:rPr>
                        <a:t>(xxxx.P1) </a:t>
                      </a:r>
                    </a:p>
                  </a:txBody>
                  <a:tcPr marL="121920" marR="121920" marT="60960" marB="60960" anchor="ctr">
                    <a:solidFill>
                      <a:schemeClr val="accent2"/>
                    </a:solidFill>
                  </a:tcPr>
                </a:tc>
                <a:extLst>
                  <a:ext uri="{0D108BD9-81ED-4DB2-BD59-A6C34878D82A}">
                    <a16:rowId xmlns:a16="http://schemas.microsoft.com/office/drawing/2014/main" val="2319639807"/>
                  </a:ext>
                </a:extLst>
              </a:tr>
              <a:tr h="3657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Mode of Action</a:t>
                      </a:r>
                    </a:p>
                  </a:txBody>
                  <a:tcPr marL="121920" marR="121920" marT="60960" marB="60960">
                    <a:solidFill>
                      <a:schemeClr val="accent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[XYZ] inhibitor</a:t>
                      </a:r>
                      <a:endParaRPr lang="en-US" sz="1200">
                        <a:latin typeface="+mn-lt"/>
                      </a:endParaRPr>
                    </a:p>
                  </a:txBody>
                  <a:tcPr marL="121920" marR="121920" marT="60960" marB="60960"/>
                </a:tc>
                <a:extLst>
                  <a:ext uri="{0D108BD9-81ED-4DB2-BD59-A6C34878D82A}">
                    <a16:rowId xmlns:a16="http://schemas.microsoft.com/office/drawing/2014/main" val="818183171"/>
                  </a:ext>
                </a:extLst>
              </a:tr>
              <a:tr h="3657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Target  Indication</a:t>
                      </a:r>
                    </a:p>
                  </a:txBody>
                  <a:tcPr marL="121920" marR="121920" marT="60960" marB="60960">
                    <a:solidFill>
                      <a:schemeClr val="accent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effectLst/>
                        </a:rPr>
                        <a:t>BI [</a:t>
                      </a:r>
                      <a:r>
                        <a:rPr lang="en-US" sz="1200" kern="1200" err="1">
                          <a:solidFill>
                            <a:schemeClr val="dk1"/>
                          </a:solidFill>
                          <a:effectLst/>
                        </a:rPr>
                        <a:t>xxxxxxx</a:t>
                      </a:r>
                      <a:r>
                        <a:rPr lang="en-US" sz="1200" kern="1200">
                          <a:solidFill>
                            <a:schemeClr val="dk1"/>
                          </a:solidFill>
                          <a:effectLst/>
                        </a:rPr>
                        <a:t>] is being developed for the treatment of [ABC]</a:t>
                      </a:r>
                      <a:endParaRPr lang="en-US" sz="1200">
                        <a:latin typeface="+mn-lt"/>
                      </a:endParaRPr>
                    </a:p>
                  </a:txBody>
                  <a:tcPr marL="121920" marR="121920" marT="60960" marB="60960"/>
                </a:tc>
                <a:extLst>
                  <a:ext uri="{0D108BD9-81ED-4DB2-BD59-A6C34878D82A}">
                    <a16:rowId xmlns:a16="http://schemas.microsoft.com/office/drawing/2014/main" val="486078726"/>
                  </a:ext>
                </a:extLst>
              </a:tr>
              <a:tr h="365760">
                <a:tc>
                  <a:txBody>
                    <a:bodyPr/>
                    <a:lstStyle/>
                    <a:p>
                      <a:r>
                        <a:rPr lang="en-US" sz="1400">
                          <a:solidFill>
                            <a:schemeClr val="tx1"/>
                          </a:solidFill>
                        </a:rPr>
                        <a:t>Classification</a:t>
                      </a:r>
                    </a:p>
                  </a:txBody>
                  <a:tcPr marL="121920" marR="121920" marT="60960" marB="60960">
                    <a:solidFill>
                      <a:schemeClr val="accent2"/>
                    </a:solidFill>
                  </a:tcPr>
                </a:tc>
                <a:tc>
                  <a:txBody>
                    <a:bodyPr/>
                    <a:lstStyle/>
                    <a:p>
                      <a:pPr algn="l"/>
                      <a:r>
                        <a:rPr lang="en-US" sz="1200" baseline="0"/>
                        <a:t>Internal front-runner; First-in-class potential</a:t>
                      </a:r>
                      <a:endParaRPr lang="en-US" sz="1200" baseline="0">
                        <a:latin typeface="+mn-lt"/>
                      </a:endParaRPr>
                    </a:p>
                  </a:txBody>
                  <a:tcPr marL="121920" marR="121920" marT="60960" marB="60960"/>
                </a:tc>
                <a:extLst>
                  <a:ext uri="{0D108BD9-81ED-4DB2-BD59-A6C34878D82A}">
                    <a16:rowId xmlns:a16="http://schemas.microsoft.com/office/drawing/2014/main" val="2602282708"/>
                  </a:ext>
                </a:extLst>
              </a:tr>
              <a:tr h="365760">
                <a:tc>
                  <a:txBody>
                    <a:bodyPr/>
                    <a:lstStyle/>
                    <a:p>
                      <a:r>
                        <a:rPr lang="en-US" sz="1400">
                          <a:solidFill>
                            <a:schemeClr val="tx1"/>
                          </a:solidFill>
                        </a:rPr>
                        <a:t>Administration</a:t>
                      </a:r>
                      <a:r>
                        <a:rPr lang="en-US" sz="1400" baseline="0">
                          <a:solidFill>
                            <a:schemeClr val="tx1"/>
                          </a:solidFill>
                        </a:rPr>
                        <a:t> Route</a:t>
                      </a:r>
                      <a:endParaRPr lang="en-US" sz="1400">
                        <a:solidFill>
                          <a:schemeClr val="tx1"/>
                        </a:solidFill>
                      </a:endParaRPr>
                    </a:p>
                  </a:txBody>
                  <a:tcPr marL="121920" marR="121920" marT="60960" marB="60960">
                    <a:solidFill>
                      <a:schemeClr val="accent2"/>
                    </a:solidFill>
                  </a:tcPr>
                </a:tc>
                <a:tc>
                  <a:txBody>
                    <a:bodyPr/>
                    <a:lstStyle/>
                    <a:p>
                      <a:pPr algn="l"/>
                      <a:r>
                        <a:rPr lang="en-US" sz="1200"/>
                        <a:t>Oral (tablet)</a:t>
                      </a:r>
                      <a:endParaRPr lang="en-US" sz="1200">
                        <a:latin typeface="+mn-lt"/>
                      </a:endParaRPr>
                    </a:p>
                  </a:txBody>
                  <a:tcPr marL="121920" marR="121920" marT="60960" marB="60960"/>
                </a:tc>
                <a:extLst>
                  <a:ext uri="{0D108BD9-81ED-4DB2-BD59-A6C34878D82A}">
                    <a16:rowId xmlns:a16="http://schemas.microsoft.com/office/drawing/2014/main" val="2730862219"/>
                  </a:ext>
                </a:extLst>
              </a:tr>
              <a:tr h="348355">
                <a:tc>
                  <a:txBody>
                    <a:bodyPr/>
                    <a:lstStyle/>
                    <a:p>
                      <a:r>
                        <a:rPr lang="en-US" sz="1400">
                          <a:solidFill>
                            <a:schemeClr val="tx1"/>
                          </a:solidFill>
                        </a:rPr>
                        <a:t>Estimated</a:t>
                      </a:r>
                      <a:r>
                        <a:rPr lang="en-US" sz="1400" baseline="0">
                          <a:solidFill>
                            <a:schemeClr val="tx1"/>
                          </a:solidFill>
                        </a:rPr>
                        <a:t> </a:t>
                      </a:r>
                      <a:r>
                        <a:rPr lang="en-US" sz="1400">
                          <a:solidFill>
                            <a:schemeClr val="tx1"/>
                          </a:solidFill>
                        </a:rPr>
                        <a:t>Therapeutic</a:t>
                      </a:r>
                      <a:r>
                        <a:rPr lang="en-US" sz="1400" baseline="0">
                          <a:solidFill>
                            <a:schemeClr val="tx1"/>
                          </a:solidFill>
                        </a:rPr>
                        <a:t> Dose</a:t>
                      </a:r>
                      <a:endParaRPr lang="en-US" sz="1400">
                        <a:solidFill>
                          <a:schemeClr val="tx1"/>
                        </a:solidFill>
                      </a:endParaRPr>
                    </a:p>
                  </a:txBody>
                  <a:tcPr marL="121920" marR="121920" marT="60960" marB="60960">
                    <a:solidFill>
                      <a:schemeClr val="accent2"/>
                    </a:solidFill>
                  </a:tcPr>
                </a:tc>
                <a:tc>
                  <a:txBody>
                    <a:bodyPr/>
                    <a:lstStyle/>
                    <a:p>
                      <a:pPr algn="l"/>
                      <a:r>
                        <a:rPr lang="en-US" sz="1200" baseline="0">
                          <a:solidFill>
                            <a:schemeClr val="tx1"/>
                          </a:solidFill>
                        </a:rPr>
                        <a:t>[X] mg </a:t>
                      </a:r>
                      <a:r>
                        <a:rPr lang="en-US" sz="1200" baseline="0" err="1">
                          <a:solidFill>
                            <a:schemeClr val="tx1"/>
                          </a:solidFill>
                        </a:rPr>
                        <a:t>qd</a:t>
                      </a:r>
                      <a:endParaRPr lang="en-US" sz="1200" baseline="0">
                        <a:solidFill>
                          <a:schemeClr val="tx1"/>
                        </a:solidFill>
                        <a:latin typeface="+mn-lt"/>
                      </a:endParaRPr>
                    </a:p>
                  </a:txBody>
                  <a:tcPr marL="121920" marR="121920" marT="60960" marB="60960"/>
                </a:tc>
                <a:extLst>
                  <a:ext uri="{0D108BD9-81ED-4DB2-BD59-A6C34878D82A}">
                    <a16:rowId xmlns:a16="http://schemas.microsoft.com/office/drawing/2014/main" val="2016774413"/>
                  </a:ext>
                </a:extLst>
              </a:tr>
              <a:tr h="365760">
                <a:tc>
                  <a:txBody>
                    <a:bodyPr/>
                    <a:lstStyle/>
                    <a:p>
                      <a:r>
                        <a:rPr lang="en-GB" sz="1400" err="1">
                          <a:solidFill>
                            <a:schemeClr val="tx1"/>
                          </a:solidFill>
                        </a:rPr>
                        <a:t>PoPP</a:t>
                      </a:r>
                      <a:r>
                        <a:rPr lang="en-GB" sz="1400">
                          <a:solidFill>
                            <a:schemeClr val="tx1"/>
                          </a:solidFill>
                        </a:rPr>
                        <a:t> Criterion</a:t>
                      </a:r>
                      <a:endParaRPr lang="en-US" sz="1400">
                        <a:solidFill>
                          <a:schemeClr val="tx1"/>
                        </a:solidFill>
                      </a:endParaRPr>
                    </a:p>
                  </a:txBody>
                  <a:tcPr marL="121920" marR="121920" marT="60960" marB="60960">
                    <a:solidFill>
                      <a:schemeClr val="accent2"/>
                    </a:solidFill>
                  </a:tcPr>
                </a:tc>
                <a:tc>
                  <a:txBody>
                    <a:bodyPr/>
                    <a:lstStyle/>
                    <a:p>
                      <a:pPr algn="l"/>
                      <a:r>
                        <a:rPr lang="en-US" sz="1200" b="0" baseline="0"/>
                        <a:t>90% target engagement at </a:t>
                      </a:r>
                      <a:r>
                        <a:rPr lang="en-US" sz="1200" b="0" baseline="0" err="1"/>
                        <a:t>C</a:t>
                      </a:r>
                      <a:r>
                        <a:rPr lang="en-US" sz="1200" b="0" baseline="-25000" err="1"/>
                        <a:t>trough,ss</a:t>
                      </a:r>
                      <a:r>
                        <a:rPr lang="en-US" sz="1200" b="0" baseline="-25000"/>
                        <a:t> </a:t>
                      </a:r>
                      <a:r>
                        <a:rPr lang="en-US" sz="1200" b="0" baseline="0"/>
                        <a:t>in MRD</a:t>
                      </a:r>
                      <a:endParaRPr lang="en-US" sz="1200" b="0" i="0" baseline="0">
                        <a:latin typeface="+mn-lt"/>
                      </a:endParaRPr>
                    </a:p>
                  </a:txBody>
                  <a:tcPr marL="121920" marR="121920" marT="60960" marB="60960"/>
                </a:tc>
                <a:extLst>
                  <a:ext uri="{0D108BD9-81ED-4DB2-BD59-A6C34878D82A}">
                    <a16:rowId xmlns:a16="http://schemas.microsoft.com/office/drawing/2014/main" val="3548140937"/>
                  </a:ext>
                </a:extLst>
              </a:tr>
              <a:tr h="339319">
                <a:tc>
                  <a:txBody>
                    <a:bodyPr/>
                    <a:lstStyle/>
                    <a:p>
                      <a:r>
                        <a:rPr lang="en-US" sz="1400">
                          <a:solidFill>
                            <a:schemeClr val="tx1"/>
                          </a:solidFill>
                        </a:rPr>
                        <a:t>PoCP Criteria</a:t>
                      </a:r>
                    </a:p>
                  </a:txBody>
                  <a:tcPr marL="121920" marR="121920" marT="60960" marB="60960">
                    <a:solidFill>
                      <a:schemeClr val="accent2"/>
                    </a:solidFill>
                  </a:tcPr>
                </a:tc>
                <a:tc>
                  <a:txBody>
                    <a:bodyPr/>
                    <a:lstStyle/>
                    <a:p>
                      <a:pPr marL="0" indent="0" algn="l">
                        <a:buFont typeface="Arial" panose="020B0604020202020204" pitchFamily="34" charset="0"/>
                        <a:buNone/>
                      </a:pPr>
                      <a:r>
                        <a:rPr lang="en-US" sz="1200"/>
                        <a:t>&gt;5 points improvement in [biomarker X] change from baseline compared to placebo at Week 12 in Phase </a:t>
                      </a:r>
                      <a:r>
                        <a:rPr lang="en-US" sz="1200" err="1"/>
                        <a:t>IIa</a:t>
                      </a:r>
                      <a:endParaRPr lang="en-US" sz="1200">
                        <a:latin typeface="+mn-lt"/>
                      </a:endParaRPr>
                    </a:p>
                  </a:txBody>
                  <a:tcPr marL="121920" marR="121920" marT="60960" marB="60960"/>
                </a:tc>
                <a:extLst>
                  <a:ext uri="{0D108BD9-81ED-4DB2-BD59-A6C34878D82A}">
                    <a16:rowId xmlns:a16="http://schemas.microsoft.com/office/drawing/2014/main" val="1543688068"/>
                  </a:ext>
                </a:extLst>
              </a:tr>
              <a:tr h="365760">
                <a:tc>
                  <a:txBody>
                    <a:bodyPr/>
                    <a:lstStyle/>
                    <a:p>
                      <a:r>
                        <a:rPr lang="en-US" sz="1400">
                          <a:solidFill>
                            <a:schemeClr val="tx1"/>
                          </a:solidFill>
                        </a:rPr>
                        <a:t>Status</a:t>
                      </a:r>
                    </a:p>
                  </a:txBody>
                  <a:tcPr marL="121920" marR="121920" marT="60960" marB="60960">
                    <a:solidFill>
                      <a:schemeClr val="accent2"/>
                    </a:solidFill>
                  </a:tcPr>
                </a:tc>
                <a:tc>
                  <a:txBody>
                    <a:bodyPr/>
                    <a:lstStyle/>
                    <a:p>
                      <a:pPr algn="l"/>
                      <a:r>
                        <a:rPr lang="en-US" sz="1200"/>
                        <a:t>Phase 1</a:t>
                      </a:r>
                      <a:endParaRPr lang="en-US" sz="1200" baseline="0">
                        <a:solidFill>
                          <a:srgbClr val="FF0000"/>
                        </a:solidFill>
                        <a:latin typeface="+mn-lt"/>
                      </a:endParaRPr>
                    </a:p>
                  </a:txBody>
                  <a:tcPr marL="121920" marR="121920" marT="60960" marB="60960"/>
                </a:tc>
                <a:extLst>
                  <a:ext uri="{0D108BD9-81ED-4DB2-BD59-A6C34878D82A}">
                    <a16:rowId xmlns:a16="http://schemas.microsoft.com/office/drawing/2014/main" val="1280576683"/>
                  </a:ext>
                </a:extLst>
              </a:tr>
            </a:tbl>
          </a:graphicData>
        </a:graphic>
      </p:graphicFrame>
      <p:sp>
        <p:nvSpPr>
          <p:cNvPr id="2" name="Text Placeholder 1">
            <a:extLst>
              <a:ext uri="{FF2B5EF4-FFF2-40B4-BE49-F238E27FC236}">
                <a16:creationId xmlns:a16="http://schemas.microsoft.com/office/drawing/2014/main" id="{F7BD5CB1-C12A-3A0F-D246-511CE7A43926}"/>
              </a:ext>
            </a:extLst>
          </p:cNvPr>
          <p:cNvSpPr>
            <a:spLocks noGrp="1"/>
          </p:cNvSpPr>
          <p:nvPr>
            <p:ph type="body" sz="quarter" idx="13"/>
          </p:nvPr>
        </p:nvSpPr>
        <p:spPr/>
        <p:txBody>
          <a:bodyPr/>
          <a:lstStyle/>
          <a:p>
            <a:endParaRPr lang="en-US"/>
          </a:p>
        </p:txBody>
      </p:sp>
      <p:sp>
        <p:nvSpPr>
          <p:cNvPr id="4" name="Footer Placeholder 3"/>
          <p:cNvSpPr>
            <a:spLocks noGrp="1"/>
          </p:cNvSpPr>
          <p:nvPr>
            <p:ph type="ftr" sz="quarter" idx="19"/>
          </p:nvPr>
        </p:nvSpPr>
        <p:spPr/>
        <p:txBody>
          <a:bodyPr/>
          <a:lstStyle/>
          <a:p>
            <a:r>
              <a:rPr lang="en-US" noProof="0"/>
              <a:t>ClinPharm Project Overview [target]    |    ONLY FOR INTERNAL USE</a:t>
            </a:r>
            <a:endParaRPr lang="en-GB" noProof="0"/>
          </a:p>
        </p:txBody>
      </p:sp>
      <p:sp>
        <p:nvSpPr>
          <p:cNvPr id="17" name="Content Placeholder 2"/>
          <p:cNvSpPr txBox="1">
            <a:spLocks/>
          </p:cNvSpPr>
          <p:nvPr/>
        </p:nvSpPr>
        <p:spPr>
          <a:xfrm>
            <a:off x="478367" y="5400481"/>
            <a:ext cx="11245851" cy="1609036"/>
          </a:xfrm>
          <a:prstGeom prst="rect">
            <a:avLst/>
          </a:prstGeom>
        </p:spPr>
        <p:txBody>
          <a:bodyPr vert="horz" lIns="0" tIns="0" rIns="0" bIns="0" rtlCol="0">
            <a:noAutofit/>
          </a:bodyPr>
          <a:lst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de-DE" sz="1333" b="1"/>
          </a:p>
        </p:txBody>
      </p:sp>
      <p:sp>
        <p:nvSpPr>
          <p:cNvPr id="12" name="Speech Bubble: Rectangle 11">
            <a:extLst>
              <a:ext uri="{FF2B5EF4-FFF2-40B4-BE49-F238E27FC236}">
                <a16:creationId xmlns:a16="http://schemas.microsoft.com/office/drawing/2014/main" id="{284EE5C1-9B90-467D-9D00-20BAD49368C8}"/>
              </a:ext>
            </a:extLst>
          </p:cNvPr>
          <p:cNvSpPr/>
          <p:nvPr/>
        </p:nvSpPr>
        <p:spPr>
          <a:xfrm>
            <a:off x="8434752" y="173137"/>
            <a:ext cx="3639735" cy="1089029"/>
          </a:xfrm>
          <a:prstGeom prst="wedgeRectCallout">
            <a:avLst>
              <a:gd name="adj1" fmla="val -66388"/>
              <a:gd name="adj2" fmla="val 168255"/>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 Within the Asset team documentation, there are folders with committee materials, which include project overview slides. These may be included via copy-paste.</a:t>
            </a:r>
          </a:p>
        </p:txBody>
      </p:sp>
      <p:sp>
        <p:nvSpPr>
          <p:cNvPr id="3" name="Foliennummernplatzhalter 2">
            <a:extLst>
              <a:ext uri="{FF2B5EF4-FFF2-40B4-BE49-F238E27FC236}">
                <a16:creationId xmlns:a16="http://schemas.microsoft.com/office/drawing/2014/main" id="{41CF1F3D-E4E5-307D-598A-928A79B71073}"/>
              </a:ext>
            </a:extLst>
          </p:cNvPr>
          <p:cNvSpPr>
            <a:spLocks noGrp="1"/>
          </p:cNvSpPr>
          <p:nvPr>
            <p:ph type="sldNum" sz="quarter" idx="20"/>
          </p:nvPr>
        </p:nvSpPr>
        <p:spPr/>
        <p:txBody>
          <a:bodyPr/>
          <a:lstStyle/>
          <a:p>
            <a:fld id="{DF4E8F9F-5B1F-4F5B-BE49-3245D8C18D9F}" type="slidenum">
              <a:rPr lang="en-US" smtClean="0"/>
              <a:pPr/>
              <a:t>3</a:t>
            </a:fld>
            <a:endParaRPr lang="en-US"/>
          </a:p>
        </p:txBody>
      </p:sp>
      <p:sp>
        <p:nvSpPr>
          <p:cNvPr id="5" name="Speech Bubble: Rectangle 11">
            <a:extLst>
              <a:ext uri="{FF2B5EF4-FFF2-40B4-BE49-F238E27FC236}">
                <a16:creationId xmlns:a16="http://schemas.microsoft.com/office/drawing/2014/main" id="{677E4EF6-F0A8-A3A2-A343-0CBAD8AC13A4}"/>
              </a:ext>
            </a:extLst>
          </p:cNvPr>
          <p:cNvSpPr/>
          <p:nvPr/>
        </p:nvSpPr>
        <p:spPr>
          <a:xfrm>
            <a:off x="7452414" y="5503847"/>
            <a:ext cx="3795808" cy="445418"/>
          </a:xfrm>
          <a:prstGeom prst="wedgeRectCallout">
            <a:avLst>
              <a:gd name="adj1" fmla="val -73400"/>
              <a:gd name="adj2" fmla="val -184881"/>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Additional information (e.g. NOAEL, prelim BCS classification) may be added based on project needs.</a:t>
            </a:r>
          </a:p>
        </p:txBody>
      </p:sp>
    </p:spTree>
    <p:extLst>
      <p:ext uri="{BB962C8B-B14F-4D97-AF65-F5344CB8AC3E}">
        <p14:creationId xmlns:p14="http://schemas.microsoft.com/office/powerpoint/2010/main" val="1284269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Mode of Action (</a:t>
            </a:r>
            <a:r>
              <a:rPr lang="en-US" err="1"/>
              <a:t>MoA</a:t>
            </a:r>
            <a:r>
              <a:rPr lang="en-US"/>
              <a:t>)</a:t>
            </a:r>
          </a:p>
        </p:txBody>
      </p:sp>
      <p:sp>
        <p:nvSpPr>
          <p:cNvPr id="9" name="Content Placeholder 8"/>
          <p:cNvSpPr>
            <a:spLocks noGrp="1"/>
          </p:cNvSpPr>
          <p:nvPr>
            <p:ph idx="1"/>
          </p:nvPr>
        </p:nvSpPr>
        <p:spPr/>
        <p:txBody>
          <a:bodyPr/>
          <a:lstStyle/>
          <a:p>
            <a:pPr marL="0" indent="0">
              <a:buNone/>
            </a:pPr>
            <a:r>
              <a:rPr lang="en-US"/>
              <a:t>[insert graphical representation &amp; text as required]</a:t>
            </a:r>
          </a:p>
          <a:p>
            <a:pPr marL="0" indent="0">
              <a:buNone/>
            </a:pPr>
            <a:r>
              <a:rPr lang="en-US"/>
              <a:t>[ideally one slide, additional information may be provided in the backup slides]</a:t>
            </a:r>
          </a:p>
        </p:txBody>
      </p:sp>
      <p:sp>
        <p:nvSpPr>
          <p:cNvPr id="2" name="Text Placeholder 1">
            <a:extLst>
              <a:ext uri="{FF2B5EF4-FFF2-40B4-BE49-F238E27FC236}">
                <a16:creationId xmlns:a16="http://schemas.microsoft.com/office/drawing/2014/main" id="{A7F8FA81-705A-FD50-4FD5-5882468A1806}"/>
              </a:ext>
            </a:extLst>
          </p:cNvPr>
          <p:cNvSpPr>
            <a:spLocks noGrp="1"/>
          </p:cNvSpPr>
          <p:nvPr>
            <p:ph type="body" sz="quarter" idx="13"/>
          </p:nvPr>
        </p:nvSpPr>
        <p:spPr/>
        <p:txBody>
          <a:bodyPr/>
          <a:lstStyle/>
          <a:p>
            <a:endParaRPr lang="en-US"/>
          </a:p>
        </p:txBody>
      </p:sp>
      <p:sp>
        <p:nvSpPr>
          <p:cNvPr id="4" name="Footer Placeholder 3"/>
          <p:cNvSpPr>
            <a:spLocks noGrp="1"/>
          </p:cNvSpPr>
          <p:nvPr>
            <p:ph type="ftr" sz="quarter" idx="19"/>
          </p:nvPr>
        </p:nvSpPr>
        <p:spPr/>
        <p:txBody>
          <a:bodyPr/>
          <a:lstStyle/>
          <a:p>
            <a:r>
              <a:rPr lang="en-US" noProof="0"/>
              <a:t>ClinPharm Project Overview [target]    |    ONLY FOR INTERNAL USE</a:t>
            </a:r>
            <a:endParaRPr lang="en-GB" noProof="0"/>
          </a:p>
        </p:txBody>
      </p:sp>
      <p:sp>
        <p:nvSpPr>
          <p:cNvPr id="17" name="Content Placeholder 2"/>
          <p:cNvSpPr txBox="1">
            <a:spLocks/>
          </p:cNvSpPr>
          <p:nvPr/>
        </p:nvSpPr>
        <p:spPr>
          <a:xfrm>
            <a:off x="478367" y="5400481"/>
            <a:ext cx="11245851" cy="1609036"/>
          </a:xfrm>
          <a:prstGeom prst="rect">
            <a:avLst/>
          </a:prstGeom>
        </p:spPr>
        <p:txBody>
          <a:bodyPr vert="horz" lIns="0" tIns="0" rIns="0" bIns="0" rtlCol="0">
            <a:noAutofit/>
          </a:bodyPr>
          <a:lst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de-DE" sz="1333" b="1"/>
          </a:p>
        </p:txBody>
      </p:sp>
      <p:sp>
        <p:nvSpPr>
          <p:cNvPr id="3" name="Foliennummernplatzhalter 2">
            <a:extLst>
              <a:ext uri="{FF2B5EF4-FFF2-40B4-BE49-F238E27FC236}">
                <a16:creationId xmlns:a16="http://schemas.microsoft.com/office/drawing/2014/main" id="{B17D5EE7-1DB5-2C53-E719-E6B1527EF43D}"/>
              </a:ext>
            </a:extLst>
          </p:cNvPr>
          <p:cNvSpPr>
            <a:spLocks noGrp="1"/>
          </p:cNvSpPr>
          <p:nvPr>
            <p:ph type="sldNum" sz="quarter" idx="20"/>
          </p:nvPr>
        </p:nvSpPr>
        <p:spPr/>
        <p:txBody>
          <a:bodyPr/>
          <a:lstStyle/>
          <a:p>
            <a:fld id="{DF4E8F9F-5B1F-4F5B-BE49-3245D8C18D9F}" type="slidenum">
              <a:rPr lang="en-US" smtClean="0"/>
              <a:pPr/>
              <a:t>4</a:t>
            </a:fld>
            <a:endParaRPr lang="en-US"/>
          </a:p>
        </p:txBody>
      </p:sp>
    </p:spTree>
    <p:extLst>
      <p:ext uri="{BB962C8B-B14F-4D97-AF65-F5344CB8AC3E}">
        <p14:creationId xmlns:p14="http://schemas.microsoft.com/office/powerpoint/2010/main" val="1605484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a:t>xxxx.P01: </a:t>
            </a:r>
            <a:r>
              <a:rPr lang="en-US"/>
              <a:t>Overview - 5 year outlook</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142849431"/>
              </p:ext>
            </p:extLst>
          </p:nvPr>
        </p:nvGraphicFramePr>
        <p:xfrm>
          <a:off x="479425" y="986712"/>
          <a:ext cx="11233140" cy="4699307"/>
        </p:xfrm>
        <a:graphic>
          <a:graphicData uri="http://schemas.openxmlformats.org/drawingml/2006/table">
            <a:tbl>
              <a:tblPr firstRow="1" bandRow="1">
                <a:tableStyleId>{5C22544A-7EE6-4342-B048-85BDC9FD1C3A}</a:tableStyleId>
              </a:tblPr>
              <a:tblGrid>
                <a:gridCol w="561657">
                  <a:extLst>
                    <a:ext uri="{9D8B030D-6E8A-4147-A177-3AD203B41FA5}">
                      <a16:colId xmlns:a16="http://schemas.microsoft.com/office/drawing/2014/main" val="2722699697"/>
                    </a:ext>
                  </a:extLst>
                </a:gridCol>
                <a:gridCol w="561657">
                  <a:extLst>
                    <a:ext uri="{9D8B030D-6E8A-4147-A177-3AD203B41FA5}">
                      <a16:colId xmlns:a16="http://schemas.microsoft.com/office/drawing/2014/main" val="1547362213"/>
                    </a:ext>
                  </a:extLst>
                </a:gridCol>
                <a:gridCol w="561657">
                  <a:extLst>
                    <a:ext uri="{9D8B030D-6E8A-4147-A177-3AD203B41FA5}">
                      <a16:colId xmlns:a16="http://schemas.microsoft.com/office/drawing/2014/main" val="3577722101"/>
                    </a:ext>
                  </a:extLst>
                </a:gridCol>
                <a:gridCol w="561657">
                  <a:extLst>
                    <a:ext uri="{9D8B030D-6E8A-4147-A177-3AD203B41FA5}">
                      <a16:colId xmlns:a16="http://schemas.microsoft.com/office/drawing/2014/main" val="4262034566"/>
                    </a:ext>
                  </a:extLst>
                </a:gridCol>
                <a:gridCol w="561657">
                  <a:extLst>
                    <a:ext uri="{9D8B030D-6E8A-4147-A177-3AD203B41FA5}">
                      <a16:colId xmlns:a16="http://schemas.microsoft.com/office/drawing/2014/main" val="2298735990"/>
                    </a:ext>
                  </a:extLst>
                </a:gridCol>
                <a:gridCol w="561657">
                  <a:extLst>
                    <a:ext uri="{9D8B030D-6E8A-4147-A177-3AD203B41FA5}">
                      <a16:colId xmlns:a16="http://schemas.microsoft.com/office/drawing/2014/main" val="2995673501"/>
                    </a:ext>
                  </a:extLst>
                </a:gridCol>
                <a:gridCol w="561657">
                  <a:extLst>
                    <a:ext uri="{9D8B030D-6E8A-4147-A177-3AD203B41FA5}">
                      <a16:colId xmlns:a16="http://schemas.microsoft.com/office/drawing/2014/main" val="243287420"/>
                    </a:ext>
                  </a:extLst>
                </a:gridCol>
                <a:gridCol w="561657">
                  <a:extLst>
                    <a:ext uri="{9D8B030D-6E8A-4147-A177-3AD203B41FA5}">
                      <a16:colId xmlns:a16="http://schemas.microsoft.com/office/drawing/2014/main" val="3056995863"/>
                    </a:ext>
                  </a:extLst>
                </a:gridCol>
                <a:gridCol w="561657">
                  <a:extLst>
                    <a:ext uri="{9D8B030D-6E8A-4147-A177-3AD203B41FA5}">
                      <a16:colId xmlns:a16="http://schemas.microsoft.com/office/drawing/2014/main" val="4024678315"/>
                    </a:ext>
                  </a:extLst>
                </a:gridCol>
                <a:gridCol w="561657">
                  <a:extLst>
                    <a:ext uri="{9D8B030D-6E8A-4147-A177-3AD203B41FA5}">
                      <a16:colId xmlns:a16="http://schemas.microsoft.com/office/drawing/2014/main" val="3732289797"/>
                    </a:ext>
                  </a:extLst>
                </a:gridCol>
                <a:gridCol w="561657">
                  <a:extLst>
                    <a:ext uri="{9D8B030D-6E8A-4147-A177-3AD203B41FA5}">
                      <a16:colId xmlns:a16="http://schemas.microsoft.com/office/drawing/2014/main" val="1160368579"/>
                    </a:ext>
                  </a:extLst>
                </a:gridCol>
                <a:gridCol w="561657">
                  <a:extLst>
                    <a:ext uri="{9D8B030D-6E8A-4147-A177-3AD203B41FA5}">
                      <a16:colId xmlns:a16="http://schemas.microsoft.com/office/drawing/2014/main" val="4119634758"/>
                    </a:ext>
                  </a:extLst>
                </a:gridCol>
                <a:gridCol w="561657">
                  <a:extLst>
                    <a:ext uri="{9D8B030D-6E8A-4147-A177-3AD203B41FA5}">
                      <a16:colId xmlns:a16="http://schemas.microsoft.com/office/drawing/2014/main" val="4245132338"/>
                    </a:ext>
                  </a:extLst>
                </a:gridCol>
                <a:gridCol w="561657">
                  <a:extLst>
                    <a:ext uri="{9D8B030D-6E8A-4147-A177-3AD203B41FA5}">
                      <a16:colId xmlns:a16="http://schemas.microsoft.com/office/drawing/2014/main" val="3035149127"/>
                    </a:ext>
                  </a:extLst>
                </a:gridCol>
                <a:gridCol w="561657">
                  <a:extLst>
                    <a:ext uri="{9D8B030D-6E8A-4147-A177-3AD203B41FA5}">
                      <a16:colId xmlns:a16="http://schemas.microsoft.com/office/drawing/2014/main" val="2396251233"/>
                    </a:ext>
                  </a:extLst>
                </a:gridCol>
                <a:gridCol w="561657">
                  <a:extLst>
                    <a:ext uri="{9D8B030D-6E8A-4147-A177-3AD203B41FA5}">
                      <a16:colId xmlns:a16="http://schemas.microsoft.com/office/drawing/2014/main" val="1729860287"/>
                    </a:ext>
                  </a:extLst>
                </a:gridCol>
                <a:gridCol w="561657">
                  <a:extLst>
                    <a:ext uri="{9D8B030D-6E8A-4147-A177-3AD203B41FA5}">
                      <a16:colId xmlns:a16="http://schemas.microsoft.com/office/drawing/2014/main" val="1966546384"/>
                    </a:ext>
                  </a:extLst>
                </a:gridCol>
                <a:gridCol w="561657">
                  <a:extLst>
                    <a:ext uri="{9D8B030D-6E8A-4147-A177-3AD203B41FA5}">
                      <a16:colId xmlns:a16="http://schemas.microsoft.com/office/drawing/2014/main" val="567766776"/>
                    </a:ext>
                  </a:extLst>
                </a:gridCol>
                <a:gridCol w="561657">
                  <a:extLst>
                    <a:ext uri="{9D8B030D-6E8A-4147-A177-3AD203B41FA5}">
                      <a16:colId xmlns:a16="http://schemas.microsoft.com/office/drawing/2014/main" val="1076821966"/>
                    </a:ext>
                  </a:extLst>
                </a:gridCol>
                <a:gridCol w="561657">
                  <a:extLst>
                    <a:ext uri="{9D8B030D-6E8A-4147-A177-3AD203B41FA5}">
                      <a16:colId xmlns:a16="http://schemas.microsoft.com/office/drawing/2014/main" val="186159977"/>
                    </a:ext>
                  </a:extLst>
                </a:gridCol>
              </a:tblGrid>
              <a:tr h="338072">
                <a:tc gridSpan="4">
                  <a:txBody>
                    <a:bodyPr/>
                    <a:lstStyle/>
                    <a:p>
                      <a:pPr algn="ctr"/>
                      <a:r>
                        <a:rPr lang="en-US" sz="1600">
                          <a:solidFill>
                            <a:schemeClr val="tx1"/>
                          </a:solidFill>
                        </a:rPr>
                        <a:t>2025</a:t>
                      </a:r>
                    </a:p>
                  </a:txBody>
                  <a:tcPr marL="121920" marR="121920" marT="60960" marB="60960">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600">
                          <a:solidFill>
                            <a:schemeClr val="tx1"/>
                          </a:solidFill>
                        </a:rPr>
                        <a:t>2026</a:t>
                      </a:r>
                    </a:p>
                  </a:txBody>
                  <a:tcPr marL="121920" marR="121920" marT="60960" marB="60960">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600">
                          <a:solidFill>
                            <a:schemeClr val="tx1"/>
                          </a:solidFill>
                        </a:rPr>
                        <a:t>2027</a:t>
                      </a:r>
                    </a:p>
                  </a:txBody>
                  <a:tcPr marL="121920" marR="121920" marT="60960" marB="60960">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600">
                          <a:solidFill>
                            <a:schemeClr val="tx1"/>
                          </a:solidFill>
                        </a:rPr>
                        <a:t>2028</a:t>
                      </a:r>
                    </a:p>
                  </a:txBody>
                  <a:tcPr marL="121920" marR="121920" marT="60960" marB="60960">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600">
                          <a:solidFill>
                            <a:schemeClr val="tx1"/>
                          </a:solidFill>
                        </a:rPr>
                        <a:t>2029</a:t>
                      </a:r>
                    </a:p>
                  </a:txBody>
                  <a:tcPr marL="121920" marR="121920" marT="60960" marB="60960">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78565772"/>
                  </a:ext>
                </a:extLst>
              </a:tr>
              <a:tr h="300509">
                <a:tc>
                  <a:txBody>
                    <a:bodyPr/>
                    <a:lstStyle/>
                    <a:p>
                      <a:r>
                        <a:rPr lang="en-US" sz="1300"/>
                        <a:t>Q1</a:t>
                      </a:r>
                    </a:p>
                  </a:txBody>
                  <a:tcPr marL="121920" marR="121920" marT="60960" marB="60960"/>
                </a:tc>
                <a:tc>
                  <a:txBody>
                    <a:bodyPr/>
                    <a:lstStyle/>
                    <a:p>
                      <a:pPr algn="ctr"/>
                      <a:r>
                        <a:rPr lang="en-US" sz="1300"/>
                        <a:t>Q2</a:t>
                      </a:r>
                    </a:p>
                  </a:txBody>
                  <a:tcPr marL="121920" marR="121920" marT="60960" marB="60960"/>
                </a:tc>
                <a:tc>
                  <a:txBody>
                    <a:bodyPr/>
                    <a:lstStyle/>
                    <a:p>
                      <a:pPr algn="ctr"/>
                      <a:r>
                        <a:rPr lang="en-US" sz="1300"/>
                        <a:t>Q3</a:t>
                      </a:r>
                    </a:p>
                  </a:txBody>
                  <a:tcPr marL="121920" marR="121920" marT="60960" marB="60960"/>
                </a:tc>
                <a:tc>
                  <a:txBody>
                    <a:bodyPr/>
                    <a:lstStyle/>
                    <a:p>
                      <a:pPr algn="ctr"/>
                      <a:r>
                        <a:rPr lang="en-US" sz="1300"/>
                        <a:t>Q4</a:t>
                      </a:r>
                    </a:p>
                  </a:txBody>
                  <a:tcPr marL="121920" marR="121920" marT="60960" marB="60960"/>
                </a:tc>
                <a:tc>
                  <a:txBody>
                    <a:bodyPr/>
                    <a:lstStyle/>
                    <a:p>
                      <a:pPr algn="ctr"/>
                      <a:r>
                        <a:rPr lang="en-US" sz="1300"/>
                        <a:t>Q1</a:t>
                      </a:r>
                    </a:p>
                  </a:txBody>
                  <a:tcPr marL="121920" marR="121920" marT="60960" marB="60960"/>
                </a:tc>
                <a:tc>
                  <a:txBody>
                    <a:bodyPr/>
                    <a:lstStyle/>
                    <a:p>
                      <a:pPr algn="ctr"/>
                      <a:r>
                        <a:rPr lang="en-US" sz="1300"/>
                        <a:t>Q2</a:t>
                      </a:r>
                    </a:p>
                  </a:txBody>
                  <a:tcPr marL="121920" marR="121920" marT="60960" marB="60960"/>
                </a:tc>
                <a:tc>
                  <a:txBody>
                    <a:bodyPr/>
                    <a:lstStyle/>
                    <a:p>
                      <a:pPr algn="ctr"/>
                      <a:r>
                        <a:rPr lang="en-US" sz="1300"/>
                        <a:t>Q3</a:t>
                      </a:r>
                    </a:p>
                  </a:txBody>
                  <a:tcPr marL="121920" marR="121920" marT="60960" marB="60960"/>
                </a:tc>
                <a:tc>
                  <a:txBody>
                    <a:bodyPr/>
                    <a:lstStyle/>
                    <a:p>
                      <a:pPr algn="ctr"/>
                      <a:r>
                        <a:rPr lang="en-US" sz="1300"/>
                        <a:t>Q4</a:t>
                      </a:r>
                    </a:p>
                  </a:txBody>
                  <a:tcPr marL="121920" marR="121920" marT="60960" marB="60960"/>
                </a:tc>
                <a:tc>
                  <a:txBody>
                    <a:bodyPr/>
                    <a:lstStyle/>
                    <a:p>
                      <a:pPr algn="ctr"/>
                      <a:r>
                        <a:rPr lang="en-US" sz="1300"/>
                        <a:t>Q1</a:t>
                      </a:r>
                    </a:p>
                  </a:txBody>
                  <a:tcPr marL="121920" marR="121920" marT="60960" marB="60960"/>
                </a:tc>
                <a:tc>
                  <a:txBody>
                    <a:bodyPr/>
                    <a:lstStyle/>
                    <a:p>
                      <a:pPr algn="ctr"/>
                      <a:r>
                        <a:rPr lang="en-US" sz="1300"/>
                        <a:t>Q2</a:t>
                      </a:r>
                    </a:p>
                  </a:txBody>
                  <a:tcPr marL="121920" marR="121920" marT="60960" marB="60960"/>
                </a:tc>
                <a:tc>
                  <a:txBody>
                    <a:bodyPr/>
                    <a:lstStyle/>
                    <a:p>
                      <a:pPr algn="ctr"/>
                      <a:r>
                        <a:rPr lang="en-US" sz="1300"/>
                        <a:t>Q3</a:t>
                      </a:r>
                    </a:p>
                  </a:txBody>
                  <a:tcPr marL="121920" marR="121920" marT="60960" marB="60960"/>
                </a:tc>
                <a:tc>
                  <a:txBody>
                    <a:bodyPr/>
                    <a:lstStyle/>
                    <a:p>
                      <a:pPr algn="ctr"/>
                      <a:r>
                        <a:rPr lang="en-US" sz="1300"/>
                        <a:t>Q4</a:t>
                      </a:r>
                    </a:p>
                  </a:txBody>
                  <a:tcPr marL="121920" marR="121920" marT="60960" marB="60960"/>
                </a:tc>
                <a:tc>
                  <a:txBody>
                    <a:bodyPr/>
                    <a:lstStyle/>
                    <a:p>
                      <a:pPr algn="ctr"/>
                      <a:r>
                        <a:rPr lang="en-US" sz="1300"/>
                        <a:t>Q1</a:t>
                      </a:r>
                    </a:p>
                  </a:txBody>
                  <a:tcPr marL="121920" marR="121920" marT="60960" marB="60960"/>
                </a:tc>
                <a:tc>
                  <a:txBody>
                    <a:bodyPr/>
                    <a:lstStyle/>
                    <a:p>
                      <a:pPr algn="ctr"/>
                      <a:r>
                        <a:rPr lang="en-US" sz="1300"/>
                        <a:t>Q2</a:t>
                      </a:r>
                    </a:p>
                  </a:txBody>
                  <a:tcPr marL="121920" marR="121920" marT="60960" marB="60960"/>
                </a:tc>
                <a:tc>
                  <a:txBody>
                    <a:bodyPr/>
                    <a:lstStyle/>
                    <a:p>
                      <a:pPr algn="ctr"/>
                      <a:r>
                        <a:rPr lang="en-US" sz="1300"/>
                        <a:t>Q3</a:t>
                      </a:r>
                    </a:p>
                  </a:txBody>
                  <a:tcPr marL="121920" marR="121920" marT="60960" marB="60960"/>
                </a:tc>
                <a:tc>
                  <a:txBody>
                    <a:bodyPr/>
                    <a:lstStyle/>
                    <a:p>
                      <a:pPr algn="ctr"/>
                      <a:r>
                        <a:rPr lang="en-US" sz="1300"/>
                        <a:t>Q4</a:t>
                      </a:r>
                    </a:p>
                  </a:txBody>
                  <a:tcPr marL="121920" marR="121920" marT="60960" marB="60960"/>
                </a:tc>
                <a:tc>
                  <a:txBody>
                    <a:bodyPr/>
                    <a:lstStyle/>
                    <a:p>
                      <a:pPr algn="ctr"/>
                      <a:r>
                        <a:rPr lang="en-US" sz="1300"/>
                        <a:t>Q1</a:t>
                      </a:r>
                    </a:p>
                  </a:txBody>
                  <a:tcPr marL="121920" marR="121920" marT="60960" marB="60960"/>
                </a:tc>
                <a:tc>
                  <a:txBody>
                    <a:bodyPr/>
                    <a:lstStyle/>
                    <a:p>
                      <a:pPr algn="ctr"/>
                      <a:r>
                        <a:rPr lang="en-US" sz="1300"/>
                        <a:t>Q2</a:t>
                      </a:r>
                    </a:p>
                  </a:txBody>
                  <a:tcPr marL="121920" marR="121920" marT="60960" marB="60960"/>
                </a:tc>
                <a:tc>
                  <a:txBody>
                    <a:bodyPr/>
                    <a:lstStyle/>
                    <a:p>
                      <a:pPr algn="ctr"/>
                      <a:r>
                        <a:rPr lang="en-US" sz="1300"/>
                        <a:t>Q3</a:t>
                      </a:r>
                    </a:p>
                  </a:txBody>
                  <a:tcPr marL="121920" marR="121920" marT="60960" marB="60960"/>
                </a:tc>
                <a:tc>
                  <a:txBody>
                    <a:bodyPr/>
                    <a:lstStyle/>
                    <a:p>
                      <a:pPr algn="ctr"/>
                      <a:r>
                        <a:rPr lang="en-US" sz="1300"/>
                        <a:t>Q4</a:t>
                      </a:r>
                    </a:p>
                  </a:txBody>
                  <a:tcPr marL="121920" marR="121920" marT="60960" marB="60960"/>
                </a:tc>
                <a:extLst>
                  <a:ext uri="{0D108BD9-81ED-4DB2-BD59-A6C34878D82A}">
                    <a16:rowId xmlns:a16="http://schemas.microsoft.com/office/drawing/2014/main" val="1068041556"/>
                  </a:ext>
                </a:extLst>
              </a:tr>
              <a:tr h="4013507">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tc>
                  <a:txBody>
                    <a:bodyPr/>
                    <a:lstStyle/>
                    <a:p>
                      <a:endParaRPr lang="en-US" sz="2100"/>
                    </a:p>
                  </a:txBody>
                  <a:tcPr marL="121920" marR="121920" marT="60960" marB="60960"/>
                </a:tc>
                <a:extLst>
                  <a:ext uri="{0D108BD9-81ED-4DB2-BD59-A6C34878D82A}">
                    <a16:rowId xmlns:a16="http://schemas.microsoft.com/office/drawing/2014/main" val="2154327258"/>
                  </a:ext>
                </a:extLst>
              </a:tr>
            </a:tbl>
          </a:graphicData>
        </a:graphic>
      </p:graphicFrame>
      <p:sp>
        <p:nvSpPr>
          <p:cNvPr id="9" name="Text Placeholder 8">
            <a:extLst>
              <a:ext uri="{FF2B5EF4-FFF2-40B4-BE49-F238E27FC236}">
                <a16:creationId xmlns:a16="http://schemas.microsoft.com/office/drawing/2014/main" id="{A59D9DCB-07B5-18C0-F01C-ECB4CF7CAAA8}"/>
              </a:ext>
            </a:extLst>
          </p:cNvPr>
          <p:cNvSpPr>
            <a:spLocks noGrp="1"/>
          </p:cNvSpPr>
          <p:nvPr>
            <p:ph type="body" sz="quarter" idx="13"/>
          </p:nvPr>
        </p:nvSpPr>
        <p:spPr/>
        <p:txBody>
          <a:bodyPr/>
          <a:lstStyle/>
          <a:p>
            <a:endParaRPr lang="en-US"/>
          </a:p>
        </p:txBody>
      </p:sp>
      <p:sp>
        <p:nvSpPr>
          <p:cNvPr id="4" name="Footer Placeholder 3"/>
          <p:cNvSpPr>
            <a:spLocks noGrp="1"/>
          </p:cNvSpPr>
          <p:nvPr>
            <p:ph type="ftr" sz="quarter" idx="19"/>
          </p:nvPr>
        </p:nvSpPr>
        <p:spPr/>
        <p:txBody>
          <a:bodyPr/>
          <a:lstStyle/>
          <a:p>
            <a:r>
              <a:rPr lang="en-US" noProof="0"/>
              <a:t>ClinPharm Project Overview [target]    |    ONLY FOR INTERNAL USE</a:t>
            </a:r>
            <a:endParaRPr lang="en-GB" noProof="0"/>
          </a:p>
        </p:txBody>
      </p:sp>
      <p:grpSp>
        <p:nvGrpSpPr>
          <p:cNvPr id="48" name="Group 47"/>
          <p:cNvGrpSpPr/>
          <p:nvPr/>
        </p:nvGrpSpPr>
        <p:grpSpPr>
          <a:xfrm>
            <a:off x="378373" y="1856187"/>
            <a:ext cx="11940867" cy="3702981"/>
            <a:chOff x="283780" y="1392140"/>
            <a:chExt cx="8955650" cy="2777236"/>
          </a:xfrm>
        </p:grpSpPr>
        <p:sp>
          <p:nvSpPr>
            <p:cNvPr id="8" name="Diamond 7"/>
            <p:cNvSpPr/>
            <p:nvPr/>
          </p:nvSpPr>
          <p:spPr>
            <a:xfrm>
              <a:off x="283780" y="1392140"/>
              <a:ext cx="409903" cy="385008"/>
            </a:xfrm>
            <a:prstGeom prst="diamond">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a:solidFill>
                    <a:schemeClr val="tx1"/>
                  </a:solidFill>
                </a:rPr>
                <a:t>GNSC</a:t>
              </a:r>
            </a:p>
          </p:txBody>
        </p:sp>
        <p:sp>
          <p:nvSpPr>
            <p:cNvPr id="10" name="Rectangle 9"/>
            <p:cNvSpPr/>
            <p:nvPr/>
          </p:nvSpPr>
          <p:spPr>
            <a:xfrm>
              <a:off x="1026496" y="1842905"/>
              <a:ext cx="649663" cy="34668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xxxx-0001</a:t>
              </a:r>
            </a:p>
            <a:p>
              <a:pPr algn="ctr"/>
              <a:r>
                <a:rPr lang="en-US" sz="1067">
                  <a:solidFill>
                    <a:schemeClr val="tx1"/>
                  </a:solidFill>
                </a:rPr>
                <a:t>SRD HV </a:t>
              </a:r>
              <a:r>
                <a:rPr lang="en-US" sz="1067">
                  <a:solidFill>
                    <a:schemeClr val="tx1"/>
                  </a:solidFill>
                  <a:latin typeface="Times New Roman" panose="02020603050405020304" pitchFamily="18" charset="0"/>
                  <a:cs typeface="Times New Roman" panose="02020603050405020304" pitchFamily="18" charset="0"/>
                </a:rPr>
                <a:t>♂</a:t>
              </a:r>
              <a:endParaRPr lang="en-US" sz="1067">
                <a:solidFill>
                  <a:schemeClr val="tx1"/>
                </a:solidFill>
              </a:endParaRPr>
            </a:p>
          </p:txBody>
        </p:sp>
        <p:sp>
          <p:nvSpPr>
            <p:cNvPr id="12" name="Rectangle 11"/>
            <p:cNvSpPr/>
            <p:nvPr/>
          </p:nvSpPr>
          <p:spPr>
            <a:xfrm>
              <a:off x="2195655" y="1842905"/>
              <a:ext cx="843219" cy="34668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xxxx-0002</a:t>
              </a:r>
            </a:p>
            <a:p>
              <a:pPr algn="ctr"/>
              <a:r>
                <a:rPr lang="en-US" sz="1067">
                  <a:solidFill>
                    <a:schemeClr val="tx1"/>
                  </a:solidFill>
                </a:rPr>
                <a:t>MRD HV </a:t>
              </a:r>
              <a:r>
                <a:rPr lang="en-US" sz="1067">
                  <a:solidFill>
                    <a:schemeClr val="tx1"/>
                  </a:solidFill>
                  <a:latin typeface="Times New Roman" panose="02020603050405020304" pitchFamily="18" charset="0"/>
                  <a:cs typeface="Times New Roman" panose="02020603050405020304" pitchFamily="18" charset="0"/>
                </a:rPr>
                <a:t>♂</a:t>
              </a:r>
              <a:endParaRPr lang="en-US" sz="1067">
                <a:solidFill>
                  <a:schemeClr val="tx1"/>
                </a:solidFill>
              </a:endParaRPr>
            </a:p>
          </p:txBody>
        </p:sp>
        <p:cxnSp>
          <p:nvCxnSpPr>
            <p:cNvPr id="17" name="Elbow Connector 16"/>
            <p:cNvCxnSpPr>
              <a:stCxn id="8" idx="2"/>
              <a:endCxn id="10" idx="1"/>
            </p:cNvCxnSpPr>
            <p:nvPr/>
          </p:nvCxnSpPr>
          <p:spPr>
            <a:xfrm rot="16200000" flipH="1">
              <a:off x="638066" y="1627814"/>
              <a:ext cx="239097" cy="537764"/>
            </a:xfrm>
            <a:prstGeom prst="bentConnector2">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3"/>
              <a:endCxn id="12" idx="1"/>
            </p:cNvCxnSpPr>
            <p:nvPr/>
          </p:nvCxnSpPr>
          <p:spPr>
            <a:xfrm>
              <a:off x="1676159" y="2016245"/>
              <a:ext cx="519496" cy="0"/>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684065" y="3029509"/>
              <a:ext cx="2147288" cy="34668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xxxx-000x</a:t>
              </a:r>
            </a:p>
            <a:p>
              <a:pPr algn="ctr"/>
              <a:r>
                <a:rPr lang="en-US" sz="1067">
                  <a:solidFill>
                    <a:schemeClr val="tx1"/>
                  </a:solidFill>
                </a:rPr>
                <a:t>12w PhII in [indication]</a:t>
              </a:r>
            </a:p>
          </p:txBody>
        </p:sp>
        <p:sp>
          <p:nvSpPr>
            <p:cNvPr id="22" name="Rectangle 21"/>
            <p:cNvSpPr/>
            <p:nvPr/>
          </p:nvSpPr>
          <p:spPr>
            <a:xfrm>
              <a:off x="4186894" y="3630192"/>
              <a:ext cx="4086510" cy="34668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xxxx-000x</a:t>
              </a:r>
            </a:p>
            <a:p>
              <a:pPr algn="ctr"/>
              <a:r>
                <a:rPr lang="en-US" sz="1067">
                  <a:solidFill>
                    <a:schemeClr val="tx1"/>
                  </a:solidFill>
                </a:rPr>
                <a:t>24-&gt;48w PhII in [indication]</a:t>
              </a:r>
            </a:p>
          </p:txBody>
        </p:sp>
        <p:sp>
          <p:nvSpPr>
            <p:cNvPr id="23" name="Diamond 22"/>
            <p:cNvSpPr/>
            <p:nvPr/>
          </p:nvSpPr>
          <p:spPr>
            <a:xfrm>
              <a:off x="2918442" y="1823741"/>
              <a:ext cx="409903" cy="385008"/>
            </a:xfrm>
            <a:prstGeom prst="diamond">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PoPP</a:t>
              </a:r>
            </a:p>
          </p:txBody>
        </p:sp>
        <p:sp>
          <p:nvSpPr>
            <p:cNvPr id="24" name="Diamond 23"/>
            <p:cNvSpPr/>
            <p:nvPr/>
          </p:nvSpPr>
          <p:spPr>
            <a:xfrm>
              <a:off x="5710921" y="3010345"/>
              <a:ext cx="409903" cy="385008"/>
            </a:xfrm>
            <a:prstGeom prst="diamond">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PoCP</a:t>
              </a:r>
            </a:p>
          </p:txBody>
        </p:sp>
        <p:cxnSp>
          <p:nvCxnSpPr>
            <p:cNvPr id="28" name="Elbow Connector 27"/>
            <p:cNvCxnSpPr>
              <a:stCxn id="23" idx="2"/>
              <a:endCxn id="21" idx="1"/>
            </p:cNvCxnSpPr>
            <p:nvPr/>
          </p:nvCxnSpPr>
          <p:spPr>
            <a:xfrm rot="16200000" flipH="1">
              <a:off x="2906679" y="2425463"/>
              <a:ext cx="994100" cy="560671"/>
            </a:xfrm>
            <a:prstGeom prst="bentConnector2">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23" idx="2"/>
              <a:endCxn id="22" idx="1"/>
            </p:cNvCxnSpPr>
            <p:nvPr/>
          </p:nvCxnSpPr>
          <p:spPr>
            <a:xfrm rot="16200000" flipH="1">
              <a:off x="2857753" y="2474390"/>
              <a:ext cx="1594783" cy="1063500"/>
            </a:xfrm>
            <a:prstGeom prst="bentConnector2">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31" name="Diamond 30"/>
            <p:cNvSpPr/>
            <p:nvPr/>
          </p:nvSpPr>
          <p:spPr>
            <a:xfrm>
              <a:off x="7018641" y="3784368"/>
              <a:ext cx="409903" cy="385008"/>
            </a:xfrm>
            <a:prstGeom prst="diamond">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PoCP</a:t>
              </a:r>
            </a:p>
          </p:txBody>
        </p:sp>
        <p:sp>
          <p:nvSpPr>
            <p:cNvPr id="32" name="Diamond 31"/>
            <p:cNvSpPr/>
            <p:nvPr/>
          </p:nvSpPr>
          <p:spPr>
            <a:xfrm>
              <a:off x="8114648" y="3611028"/>
              <a:ext cx="409903" cy="385008"/>
            </a:xfrm>
            <a:prstGeom prst="diamond">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PoCC</a:t>
              </a:r>
            </a:p>
          </p:txBody>
        </p:sp>
        <p:sp>
          <p:nvSpPr>
            <p:cNvPr id="33" name="Rectangle 32"/>
            <p:cNvSpPr/>
            <p:nvPr/>
          </p:nvSpPr>
          <p:spPr>
            <a:xfrm>
              <a:off x="7092142" y="3029509"/>
              <a:ext cx="2147288" cy="34668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xxxx-000x</a:t>
              </a:r>
            </a:p>
            <a:p>
              <a:pPr algn="ctr"/>
              <a:r>
                <a:rPr lang="en-US" sz="1067">
                  <a:solidFill>
                    <a:schemeClr val="tx1"/>
                  </a:solidFill>
                </a:rPr>
                <a:t>PhIII in [indication]</a:t>
              </a:r>
            </a:p>
          </p:txBody>
        </p:sp>
        <p:cxnSp>
          <p:nvCxnSpPr>
            <p:cNvPr id="35" name="Straight Arrow Connector 34"/>
            <p:cNvCxnSpPr>
              <a:stCxn id="24" idx="3"/>
              <a:endCxn id="33" idx="1"/>
            </p:cNvCxnSpPr>
            <p:nvPr/>
          </p:nvCxnSpPr>
          <p:spPr>
            <a:xfrm>
              <a:off x="6120824" y="3202849"/>
              <a:ext cx="971318" cy="0"/>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858564" y="2514679"/>
              <a:ext cx="843219" cy="346680"/>
            </a:xfrm>
            <a:prstGeom prst="rect">
              <a:avLst/>
            </a:prstGeom>
            <a:solidFill>
              <a:schemeClr val="bg1"/>
            </a:solidFill>
            <a:ln w="12700">
              <a:solidFill>
                <a:srgbClr val="003366"/>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a:solidFill>
                    <a:schemeClr val="tx1"/>
                  </a:solidFill>
                </a:rPr>
                <a:t>1462-000x</a:t>
              </a:r>
            </a:p>
            <a:p>
              <a:pPr algn="ctr"/>
              <a:r>
                <a:rPr lang="en-US" sz="1067">
                  <a:solidFill>
                    <a:schemeClr val="tx1"/>
                  </a:solidFill>
                </a:rPr>
                <a:t>Japanese SRD</a:t>
              </a:r>
            </a:p>
          </p:txBody>
        </p:sp>
        <p:cxnSp>
          <p:nvCxnSpPr>
            <p:cNvPr id="47" name="Elbow Connector 46"/>
            <p:cNvCxnSpPr>
              <a:stCxn id="40" idx="3"/>
              <a:endCxn id="23" idx="2"/>
            </p:cNvCxnSpPr>
            <p:nvPr/>
          </p:nvCxnSpPr>
          <p:spPr>
            <a:xfrm flipV="1">
              <a:off x="2701783" y="2208749"/>
              <a:ext cx="421611" cy="479270"/>
            </a:xfrm>
            <a:prstGeom prst="bentConnector2">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grpSp>
      <p:sp>
        <p:nvSpPr>
          <p:cNvPr id="2" name="Foliennummernplatzhalter 1">
            <a:extLst>
              <a:ext uri="{FF2B5EF4-FFF2-40B4-BE49-F238E27FC236}">
                <a16:creationId xmlns:a16="http://schemas.microsoft.com/office/drawing/2014/main" id="{FA464D1C-2B35-33FA-6C6C-0AA815D73065}"/>
              </a:ext>
            </a:extLst>
          </p:cNvPr>
          <p:cNvSpPr>
            <a:spLocks noGrp="1"/>
          </p:cNvSpPr>
          <p:nvPr>
            <p:ph type="sldNum" sz="quarter" idx="20"/>
          </p:nvPr>
        </p:nvSpPr>
        <p:spPr/>
        <p:txBody>
          <a:bodyPr/>
          <a:lstStyle/>
          <a:p>
            <a:fld id="{DF4E8F9F-5B1F-4F5B-BE49-3245D8C18D9F}" type="slidenum">
              <a:rPr lang="en-US" smtClean="0"/>
              <a:pPr/>
              <a:t>5</a:t>
            </a:fld>
            <a:endParaRPr lang="en-US"/>
          </a:p>
        </p:txBody>
      </p:sp>
      <p:sp>
        <p:nvSpPr>
          <p:cNvPr id="3" name="Speech Bubble: Rectangle 11">
            <a:extLst>
              <a:ext uri="{FF2B5EF4-FFF2-40B4-BE49-F238E27FC236}">
                <a16:creationId xmlns:a16="http://schemas.microsoft.com/office/drawing/2014/main" id="{D590815D-1B5F-D845-5F5B-E9191C2D38FE}"/>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4140519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74D1B-5D63-273B-E8EF-9678FF80AE7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D4CD661-38FD-807B-250A-BB696ACA8A66}"/>
              </a:ext>
            </a:extLst>
          </p:cNvPr>
          <p:cNvSpPr>
            <a:spLocks noGrp="1"/>
          </p:cNvSpPr>
          <p:nvPr>
            <p:ph type="title"/>
          </p:nvPr>
        </p:nvSpPr>
        <p:spPr/>
        <p:txBody>
          <a:bodyPr/>
          <a:lstStyle/>
          <a:p>
            <a:r>
              <a:rPr lang="en-US"/>
              <a:t>Current Challenges</a:t>
            </a:r>
            <a:endParaRPr lang="de-DE"/>
          </a:p>
        </p:txBody>
      </p:sp>
      <p:sp>
        <p:nvSpPr>
          <p:cNvPr id="3" name="Inhaltsplatzhalter 2">
            <a:extLst>
              <a:ext uri="{FF2B5EF4-FFF2-40B4-BE49-F238E27FC236}">
                <a16:creationId xmlns:a16="http://schemas.microsoft.com/office/drawing/2014/main" id="{17722F42-0216-222A-5AE4-35779DD1850D}"/>
              </a:ext>
            </a:extLst>
          </p:cNvPr>
          <p:cNvSpPr>
            <a:spLocks noGrp="1"/>
          </p:cNvSpPr>
          <p:nvPr>
            <p:ph idx="1"/>
          </p:nvPr>
        </p:nvSpPr>
        <p:spPr/>
        <p:txBody>
          <a:bodyPr/>
          <a:lstStyle/>
          <a:p>
            <a:pPr marL="342900" indent="-342900">
              <a:buFont typeface="+mj-lt"/>
              <a:buAutoNum type="arabicPeriod"/>
            </a:pPr>
            <a:r>
              <a:rPr lang="de-DE" err="1"/>
              <a:t>Tox</a:t>
            </a:r>
            <a:r>
              <a:rPr lang="de-DE"/>
              <a:t> </a:t>
            </a:r>
            <a:r>
              <a:rPr lang="de-DE" err="1"/>
              <a:t>study</a:t>
            </a:r>
            <a:r>
              <a:rPr lang="de-DE"/>
              <a:t> in </a:t>
            </a:r>
            <a:r>
              <a:rPr lang="de-DE" err="1"/>
              <a:t>mice</a:t>
            </a:r>
            <a:r>
              <a:rPr lang="de-DE"/>
              <a:t> </a:t>
            </a:r>
            <a:r>
              <a:rPr lang="de-DE" err="1"/>
              <a:t>showed</a:t>
            </a:r>
            <a:r>
              <a:rPr lang="de-DE"/>
              <a:t> </a:t>
            </a:r>
            <a:r>
              <a:rPr lang="de-DE" err="1"/>
              <a:t>bone</a:t>
            </a:r>
            <a:r>
              <a:rPr lang="de-DE"/>
              <a:t> </a:t>
            </a:r>
            <a:r>
              <a:rPr lang="de-DE" err="1"/>
              <a:t>marrow</a:t>
            </a:r>
            <a:r>
              <a:rPr lang="de-DE"/>
              <a:t> </a:t>
            </a:r>
            <a:r>
              <a:rPr lang="de-DE" err="1"/>
              <a:t>fibrosis</a:t>
            </a:r>
            <a:r>
              <a:rPr lang="de-DE"/>
              <a:t> in all dose </a:t>
            </a:r>
            <a:r>
              <a:rPr lang="de-DE" err="1"/>
              <a:t>levels</a:t>
            </a:r>
            <a:endParaRPr lang="de-DE"/>
          </a:p>
          <a:p>
            <a:pPr marL="342900" indent="-342900">
              <a:buFont typeface="+mj-lt"/>
              <a:buAutoNum type="arabicPeriod"/>
            </a:pPr>
            <a:r>
              <a:rPr lang="de-DE"/>
              <a:t>…</a:t>
            </a:r>
          </a:p>
          <a:p>
            <a:pPr marL="342900" indent="-342900">
              <a:buFont typeface="+mj-lt"/>
              <a:buAutoNum type="arabicPeriod"/>
            </a:pPr>
            <a:r>
              <a:rPr lang="de-DE"/>
              <a:t>…</a:t>
            </a:r>
          </a:p>
          <a:p>
            <a:pPr marL="342900" indent="-342900">
              <a:buFont typeface="+mj-lt"/>
              <a:buAutoNum type="arabicPeriod"/>
            </a:pPr>
            <a:endParaRPr lang="de-DE" i="1"/>
          </a:p>
        </p:txBody>
      </p:sp>
      <p:sp>
        <p:nvSpPr>
          <p:cNvPr id="4" name="Textplatzhalter 3">
            <a:extLst>
              <a:ext uri="{FF2B5EF4-FFF2-40B4-BE49-F238E27FC236}">
                <a16:creationId xmlns:a16="http://schemas.microsoft.com/office/drawing/2014/main" id="{1DFE9857-165A-838B-CAB4-95810465E4B2}"/>
              </a:ext>
            </a:extLst>
          </p:cNvPr>
          <p:cNvSpPr>
            <a:spLocks noGrp="1"/>
          </p:cNvSpPr>
          <p:nvPr>
            <p:ph type="body" sz="quarter" idx="13"/>
          </p:nvPr>
        </p:nvSpPr>
        <p:spPr/>
        <p:txBody>
          <a:bodyPr/>
          <a:lstStyle/>
          <a:p>
            <a:endParaRPr lang="de-DE"/>
          </a:p>
        </p:txBody>
      </p:sp>
      <p:sp>
        <p:nvSpPr>
          <p:cNvPr id="5" name="Fußzeilenplatzhalter 4">
            <a:extLst>
              <a:ext uri="{FF2B5EF4-FFF2-40B4-BE49-F238E27FC236}">
                <a16:creationId xmlns:a16="http://schemas.microsoft.com/office/drawing/2014/main" id="{9CA04E77-F43D-D248-CA6C-9CE5CF754DC6}"/>
              </a:ext>
            </a:extLst>
          </p:cNvPr>
          <p:cNvSpPr>
            <a:spLocks noGrp="1"/>
          </p:cNvSpPr>
          <p:nvPr>
            <p:ph type="ftr" sz="quarter" idx="19"/>
          </p:nvPr>
        </p:nvSpPr>
        <p:spPr/>
        <p:txBody>
          <a:bodyPr/>
          <a:lstStyle/>
          <a:p>
            <a:r>
              <a:rPr lang="en-US"/>
              <a:t>ClinPharm Project Overview [target]    |    ONLY FOR INTERNAL USE</a:t>
            </a:r>
          </a:p>
        </p:txBody>
      </p:sp>
      <p:sp>
        <p:nvSpPr>
          <p:cNvPr id="6" name="Foliennummernplatzhalter 5">
            <a:extLst>
              <a:ext uri="{FF2B5EF4-FFF2-40B4-BE49-F238E27FC236}">
                <a16:creationId xmlns:a16="http://schemas.microsoft.com/office/drawing/2014/main" id="{749AE2CE-46A2-2F8D-0174-B79F2C70A42F}"/>
              </a:ext>
            </a:extLst>
          </p:cNvPr>
          <p:cNvSpPr>
            <a:spLocks noGrp="1"/>
          </p:cNvSpPr>
          <p:nvPr>
            <p:ph type="sldNum" sz="quarter" idx="20"/>
          </p:nvPr>
        </p:nvSpPr>
        <p:spPr/>
        <p:txBody>
          <a:bodyPr/>
          <a:lstStyle/>
          <a:p>
            <a:fld id="{DF4E8F9F-5B1F-4F5B-BE49-3245D8C18D9F}" type="slidenum">
              <a:rPr lang="en-US" smtClean="0"/>
              <a:pPr/>
              <a:t>6</a:t>
            </a:fld>
            <a:endParaRPr lang="en-US"/>
          </a:p>
        </p:txBody>
      </p:sp>
    </p:spTree>
    <p:extLst>
      <p:ext uri="{BB962C8B-B14F-4D97-AF65-F5344CB8AC3E}">
        <p14:creationId xmlns:p14="http://schemas.microsoft.com/office/powerpoint/2010/main" val="397031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973224-9500-8883-EFEC-BB748592A83C}"/>
              </a:ext>
            </a:extLst>
          </p:cNvPr>
          <p:cNvSpPr>
            <a:spLocks noGrp="1"/>
          </p:cNvSpPr>
          <p:nvPr>
            <p:ph type="title"/>
          </p:nvPr>
        </p:nvSpPr>
        <p:spPr/>
        <p:txBody>
          <a:bodyPr/>
          <a:lstStyle/>
          <a:p>
            <a:r>
              <a:rPr lang="de-DE"/>
              <a:t>Key </a:t>
            </a:r>
            <a:r>
              <a:rPr lang="de-DE" err="1"/>
              <a:t>upcoming</a:t>
            </a:r>
            <a:r>
              <a:rPr lang="de-DE"/>
              <a:t> </a:t>
            </a:r>
            <a:r>
              <a:rPr lang="de-DE" err="1"/>
              <a:t>inflection</a:t>
            </a:r>
            <a:r>
              <a:rPr lang="de-DE"/>
              <a:t> </a:t>
            </a:r>
            <a:r>
              <a:rPr lang="de-DE" err="1"/>
              <a:t>points</a:t>
            </a:r>
            <a:r>
              <a:rPr lang="de-DE"/>
              <a:t> (~ </a:t>
            </a:r>
            <a:r>
              <a:rPr lang="de-DE" err="1"/>
              <a:t>next</a:t>
            </a:r>
            <a:r>
              <a:rPr lang="de-DE"/>
              <a:t> 12 </a:t>
            </a:r>
            <a:r>
              <a:rPr lang="de-DE" err="1"/>
              <a:t>months</a:t>
            </a:r>
            <a:r>
              <a:rPr lang="de-DE"/>
              <a:t>)</a:t>
            </a:r>
          </a:p>
        </p:txBody>
      </p:sp>
      <p:sp>
        <p:nvSpPr>
          <p:cNvPr id="3" name="Inhaltsplatzhalter 2">
            <a:extLst>
              <a:ext uri="{FF2B5EF4-FFF2-40B4-BE49-F238E27FC236}">
                <a16:creationId xmlns:a16="http://schemas.microsoft.com/office/drawing/2014/main" id="{3607B61C-1650-D1A1-99AA-31F8B5B165C8}"/>
              </a:ext>
            </a:extLst>
          </p:cNvPr>
          <p:cNvSpPr>
            <a:spLocks noGrp="1"/>
          </p:cNvSpPr>
          <p:nvPr>
            <p:ph idx="1"/>
          </p:nvPr>
        </p:nvSpPr>
        <p:spPr/>
        <p:txBody>
          <a:bodyPr/>
          <a:lstStyle/>
          <a:p>
            <a:pPr marL="342900" indent="-342900">
              <a:buFont typeface="+mj-lt"/>
              <a:buAutoNum type="arabicPeriod"/>
            </a:pPr>
            <a:r>
              <a:rPr lang="de-DE"/>
              <a:t>April 7, 2025: Start </a:t>
            </a:r>
            <a:r>
              <a:rPr lang="de-DE" err="1"/>
              <a:t>of</a:t>
            </a:r>
            <a:r>
              <a:rPr lang="de-DE"/>
              <a:t> FIH (xxxx-0001)</a:t>
            </a:r>
          </a:p>
          <a:p>
            <a:pPr marL="342900" indent="-342900">
              <a:buFont typeface="+mj-lt"/>
              <a:buAutoNum type="arabicPeriod"/>
            </a:pPr>
            <a:r>
              <a:rPr lang="de-DE" err="1"/>
              <a:t>July</a:t>
            </a:r>
            <a:r>
              <a:rPr lang="de-DE"/>
              <a:t> 12, 2025: Key </a:t>
            </a:r>
            <a:r>
              <a:rPr lang="de-DE" err="1"/>
              <a:t>interim</a:t>
            </a:r>
            <a:r>
              <a:rPr lang="de-DE"/>
              <a:t> </a:t>
            </a:r>
            <a:r>
              <a:rPr lang="de-DE" err="1"/>
              <a:t>results</a:t>
            </a:r>
            <a:r>
              <a:rPr lang="de-DE"/>
              <a:t> (VISTA) </a:t>
            </a:r>
            <a:r>
              <a:rPr lang="de-DE" err="1"/>
              <a:t>to</a:t>
            </a:r>
            <a:r>
              <a:rPr lang="de-DE"/>
              <a:t> </a:t>
            </a:r>
            <a:r>
              <a:rPr lang="de-DE" err="1"/>
              <a:t>proceed</a:t>
            </a:r>
            <a:r>
              <a:rPr lang="de-DE"/>
              <a:t> </a:t>
            </a:r>
            <a:r>
              <a:rPr lang="de-DE" err="1"/>
              <a:t>to</a:t>
            </a:r>
            <a:r>
              <a:rPr lang="de-DE"/>
              <a:t> MRD-part </a:t>
            </a:r>
            <a:r>
              <a:rPr lang="de-DE" err="1"/>
              <a:t>of</a:t>
            </a:r>
            <a:r>
              <a:rPr lang="de-DE"/>
              <a:t> FIH (xxxx-0001)</a:t>
            </a:r>
          </a:p>
          <a:p>
            <a:pPr marL="342900" indent="-342900">
              <a:buFont typeface="+mj-lt"/>
              <a:buAutoNum type="arabicPeriod"/>
            </a:pPr>
            <a:r>
              <a:rPr lang="de-DE"/>
              <a:t>…</a:t>
            </a:r>
          </a:p>
          <a:p>
            <a:pPr marL="342900" indent="-342900">
              <a:buFont typeface="+mj-lt"/>
              <a:buAutoNum type="arabicPeriod"/>
            </a:pPr>
            <a:r>
              <a:rPr lang="de-DE"/>
              <a:t>…</a:t>
            </a:r>
          </a:p>
        </p:txBody>
      </p:sp>
      <p:sp>
        <p:nvSpPr>
          <p:cNvPr id="4" name="Textplatzhalter 3">
            <a:extLst>
              <a:ext uri="{FF2B5EF4-FFF2-40B4-BE49-F238E27FC236}">
                <a16:creationId xmlns:a16="http://schemas.microsoft.com/office/drawing/2014/main" id="{98BD7008-E0FC-07C1-76DD-E194FF2C6B9C}"/>
              </a:ext>
            </a:extLst>
          </p:cNvPr>
          <p:cNvSpPr>
            <a:spLocks noGrp="1"/>
          </p:cNvSpPr>
          <p:nvPr>
            <p:ph type="body" sz="quarter" idx="13"/>
          </p:nvPr>
        </p:nvSpPr>
        <p:spPr/>
        <p:txBody>
          <a:bodyPr/>
          <a:lstStyle/>
          <a:p>
            <a:endParaRPr lang="de-DE"/>
          </a:p>
        </p:txBody>
      </p:sp>
      <p:sp>
        <p:nvSpPr>
          <p:cNvPr id="5" name="Fußzeilenplatzhalter 4">
            <a:extLst>
              <a:ext uri="{FF2B5EF4-FFF2-40B4-BE49-F238E27FC236}">
                <a16:creationId xmlns:a16="http://schemas.microsoft.com/office/drawing/2014/main" id="{1EDD80B2-D1BA-45D5-1759-C3A736255696}"/>
              </a:ext>
            </a:extLst>
          </p:cNvPr>
          <p:cNvSpPr>
            <a:spLocks noGrp="1"/>
          </p:cNvSpPr>
          <p:nvPr>
            <p:ph type="ftr" sz="quarter" idx="19"/>
          </p:nvPr>
        </p:nvSpPr>
        <p:spPr/>
        <p:txBody>
          <a:bodyPr/>
          <a:lstStyle/>
          <a:p>
            <a:r>
              <a:rPr lang="en-US"/>
              <a:t>ClinPharm Project Overview [target]    |    ONLY FOR INTERNAL USE</a:t>
            </a:r>
          </a:p>
        </p:txBody>
      </p:sp>
      <p:sp>
        <p:nvSpPr>
          <p:cNvPr id="6" name="Foliennummernplatzhalter 5">
            <a:extLst>
              <a:ext uri="{FF2B5EF4-FFF2-40B4-BE49-F238E27FC236}">
                <a16:creationId xmlns:a16="http://schemas.microsoft.com/office/drawing/2014/main" id="{49F3E35F-1CC5-FAB7-EEC5-94297E19C93E}"/>
              </a:ext>
            </a:extLst>
          </p:cNvPr>
          <p:cNvSpPr>
            <a:spLocks noGrp="1"/>
          </p:cNvSpPr>
          <p:nvPr>
            <p:ph type="sldNum" sz="quarter" idx="20"/>
          </p:nvPr>
        </p:nvSpPr>
        <p:spPr/>
        <p:txBody>
          <a:bodyPr/>
          <a:lstStyle/>
          <a:p>
            <a:fld id="{DF4E8F9F-5B1F-4F5B-BE49-3245D8C18D9F}" type="slidenum">
              <a:rPr lang="en-US" smtClean="0"/>
              <a:pPr/>
              <a:t>7</a:t>
            </a:fld>
            <a:endParaRPr lang="en-US"/>
          </a:p>
        </p:txBody>
      </p:sp>
      <p:sp>
        <p:nvSpPr>
          <p:cNvPr id="7" name="Speech Bubble: Rectangle 11">
            <a:extLst>
              <a:ext uri="{FF2B5EF4-FFF2-40B4-BE49-F238E27FC236}">
                <a16:creationId xmlns:a16="http://schemas.microsoft.com/office/drawing/2014/main" id="{DB8ECF4A-9A27-4E5D-9CC1-790E3DDBEA7C}"/>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3627833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9EB065-C44B-2322-26CF-D16C9EAEEF21}"/>
              </a:ext>
            </a:extLst>
          </p:cNvPr>
          <p:cNvSpPr>
            <a:spLocks noGrp="1"/>
          </p:cNvSpPr>
          <p:nvPr>
            <p:ph type="title"/>
          </p:nvPr>
        </p:nvSpPr>
        <p:spPr/>
        <p:txBody>
          <a:bodyPr/>
          <a:lstStyle/>
          <a:p>
            <a:r>
              <a:rPr lang="en-US"/>
              <a:t>Current Challenges</a:t>
            </a:r>
            <a:endParaRPr lang="de-DE"/>
          </a:p>
        </p:txBody>
      </p:sp>
      <p:sp>
        <p:nvSpPr>
          <p:cNvPr id="3" name="Inhaltsplatzhalter 2">
            <a:extLst>
              <a:ext uri="{FF2B5EF4-FFF2-40B4-BE49-F238E27FC236}">
                <a16:creationId xmlns:a16="http://schemas.microsoft.com/office/drawing/2014/main" id="{CF444F6B-87D0-2F5F-DD62-6014D5BD9371}"/>
              </a:ext>
            </a:extLst>
          </p:cNvPr>
          <p:cNvSpPr>
            <a:spLocks noGrp="1"/>
          </p:cNvSpPr>
          <p:nvPr>
            <p:ph idx="1"/>
          </p:nvPr>
        </p:nvSpPr>
        <p:spPr/>
        <p:txBody>
          <a:bodyPr/>
          <a:lstStyle/>
          <a:p>
            <a:pPr marL="342900" indent="-342900">
              <a:buFont typeface="+mj-lt"/>
              <a:buAutoNum type="arabicPeriod"/>
            </a:pPr>
            <a:r>
              <a:rPr lang="de-DE"/>
              <a:t>[</a:t>
            </a:r>
            <a:r>
              <a:rPr lang="de-DE" err="1"/>
              <a:t>Please</a:t>
            </a:r>
            <a:r>
              <a:rPr lang="de-DE"/>
              <a:t> </a:t>
            </a:r>
            <a:r>
              <a:rPr lang="de-DE" err="1"/>
              <a:t>list</a:t>
            </a:r>
            <a:r>
              <a:rPr lang="de-DE"/>
              <a:t> </a:t>
            </a:r>
            <a:r>
              <a:rPr lang="de-DE" err="1"/>
              <a:t>current</a:t>
            </a:r>
            <a:r>
              <a:rPr lang="de-DE"/>
              <a:t> „</a:t>
            </a:r>
            <a:r>
              <a:rPr lang="de-DE" err="1"/>
              <a:t>hot</a:t>
            </a:r>
            <a:r>
              <a:rPr lang="de-DE"/>
              <a:t> </a:t>
            </a:r>
            <a:r>
              <a:rPr lang="de-DE" err="1"/>
              <a:t>topics</a:t>
            </a:r>
            <a:r>
              <a:rPr lang="de-DE"/>
              <a:t>“ in </a:t>
            </a:r>
            <a:r>
              <a:rPr lang="de-DE" err="1"/>
              <a:t>your</a:t>
            </a:r>
            <a:r>
              <a:rPr lang="de-DE"/>
              <a:t> </a:t>
            </a:r>
            <a:r>
              <a:rPr lang="de-DE" err="1"/>
              <a:t>project</a:t>
            </a:r>
            <a:r>
              <a:rPr lang="de-DE"/>
              <a:t> (</a:t>
            </a:r>
            <a:r>
              <a:rPr lang="de-DE" err="1"/>
              <a:t>focus</a:t>
            </a:r>
            <a:r>
              <a:rPr lang="de-DE"/>
              <a:t> on </a:t>
            </a:r>
            <a:r>
              <a:rPr lang="de-DE" err="1"/>
              <a:t>ClinPharm</a:t>
            </a:r>
            <a:r>
              <a:rPr lang="de-DE"/>
              <a:t> relevant), </a:t>
            </a:r>
            <a:r>
              <a:rPr lang="de-DE" err="1"/>
              <a:t>with</a:t>
            </a:r>
            <a:r>
              <a:rPr lang="de-DE"/>
              <a:t> </a:t>
            </a:r>
            <a:r>
              <a:rPr lang="de-DE" b="1" u="sng" err="1"/>
              <a:t>brief</a:t>
            </a:r>
            <a:r>
              <a:rPr lang="de-DE"/>
              <a:t> </a:t>
            </a:r>
            <a:r>
              <a:rPr lang="de-DE" err="1"/>
              <a:t>description</a:t>
            </a:r>
            <a:r>
              <a:rPr lang="de-DE"/>
              <a:t> </a:t>
            </a:r>
            <a:r>
              <a:rPr lang="de-DE" err="1"/>
              <a:t>of</a:t>
            </a:r>
            <a:r>
              <a:rPr lang="de-DE"/>
              <a:t> </a:t>
            </a:r>
            <a:r>
              <a:rPr lang="de-DE" err="1"/>
              <a:t>impact</a:t>
            </a:r>
            <a:r>
              <a:rPr lang="de-DE"/>
              <a:t> and (potential) </a:t>
            </a:r>
            <a:r>
              <a:rPr lang="de-DE" err="1"/>
              <a:t>mitigation</a:t>
            </a:r>
            <a:r>
              <a:rPr lang="de-DE"/>
              <a:t> </a:t>
            </a:r>
            <a:r>
              <a:rPr lang="de-DE" err="1"/>
              <a:t>strategies</a:t>
            </a:r>
            <a:r>
              <a:rPr lang="de-DE"/>
              <a:t>]</a:t>
            </a:r>
          </a:p>
          <a:p>
            <a:pPr marL="342900" indent="-342900">
              <a:buFont typeface="+mj-lt"/>
              <a:buAutoNum type="arabicPeriod"/>
            </a:pPr>
            <a:r>
              <a:rPr lang="de-DE"/>
              <a:t>…</a:t>
            </a:r>
          </a:p>
          <a:p>
            <a:pPr marL="342900" indent="-342900">
              <a:buFont typeface="+mj-lt"/>
              <a:buAutoNum type="arabicPeriod"/>
            </a:pPr>
            <a:r>
              <a:rPr lang="de-DE"/>
              <a:t>…</a:t>
            </a:r>
          </a:p>
          <a:p>
            <a:pPr marL="342900" indent="-342900">
              <a:buFont typeface="+mj-lt"/>
              <a:buAutoNum type="arabicPeriod"/>
            </a:pPr>
            <a:endParaRPr lang="de-DE" i="1"/>
          </a:p>
        </p:txBody>
      </p:sp>
      <p:sp>
        <p:nvSpPr>
          <p:cNvPr id="4" name="Textplatzhalter 3">
            <a:extLst>
              <a:ext uri="{FF2B5EF4-FFF2-40B4-BE49-F238E27FC236}">
                <a16:creationId xmlns:a16="http://schemas.microsoft.com/office/drawing/2014/main" id="{671F9A0E-FD58-B482-6526-34F145B4B56E}"/>
              </a:ext>
            </a:extLst>
          </p:cNvPr>
          <p:cNvSpPr>
            <a:spLocks noGrp="1"/>
          </p:cNvSpPr>
          <p:nvPr>
            <p:ph type="body" sz="quarter" idx="13"/>
          </p:nvPr>
        </p:nvSpPr>
        <p:spPr/>
        <p:txBody>
          <a:bodyPr/>
          <a:lstStyle/>
          <a:p>
            <a:endParaRPr lang="de-DE"/>
          </a:p>
        </p:txBody>
      </p:sp>
      <p:sp>
        <p:nvSpPr>
          <p:cNvPr id="5" name="Fußzeilenplatzhalter 4">
            <a:extLst>
              <a:ext uri="{FF2B5EF4-FFF2-40B4-BE49-F238E27FC236}">
                <a16:creationId xmlns:a16="http://schemas.microsoft.com/office/drawing/2014/main" id="{305BCAAF-0087-11BD-93E0-0B1E3F1E2F45}"/>
              </a:ext>
            </a:extLst>
          </p:cNvPr>
          <p:cNvSpPr>
            <a:spLocks noGrp="1"/>
          </p:cNvSpPr>
          <p:nvPr>
            <p:ph type="ftr" sz="quarter" idx="19"/>
          </p:nvPr>
        </p:nvSpPr>
        <p:spPr/>
        <p:txBody>
          <a:bodyPr/>
          <a:lstStyle/>
          <a:p>
            <a:r>
              <a:rPr lang="en-US"/>
              <a:t>ClinPharm Project Overview [target]    |    ONLY FOR INTERNAL USE</a:t>
            </a:r>
          </a:p>
        </p:txBody>
      </p:sp>
      <p:sp>
        <p:nvSpPr>
          <p:cNvPr id="6" name="Foliennummernplatzhalter 5">
            <a:extLst>
              <a:ext uri="{FF2B5EF4-FFF2-40B4-BE49-F238E27FC236}">
                <a16:creationId xmlns:a16="http://schemas.microsoft.com/office/drawing/2014/main" id="{ABB5AE69-14F6-C781-CE72-91880E14DCD5}"/>
              </a:ext>
            </a:extLst>
          </p:cNvPr>
          <p:cNvSpPr>
            <a:spLocks noGrp="1"/>
          </p:cNvSpPr>
          <p:nvPr>
            <p:ph type="sldNum" sz="quarter" idx="20"/>
          </p:nvPr>
        </p:nvSpPr>
        <p:spPr/>
        <p:txBody>
          <a:bodyPr/>
          <a:lstStyle/>
          <a:p>
            <a:fld id="{DF4E8F9F-5B1F-4F5B-BE49-3245D8C18D9F}" type="slidenum">
              <a:rPr lang="en-US" smtClean="0"/>
              <a:pPr/>
              <a:t>8</a:t>
            </a:fld>
            <a:endParaRPr lang="en-US"/>
          </a:p>
        </p:txBody>
      </p:sp>
    </p:spTree>
    <p:extLst>
      <p:ext uri="{BB962C8B-B14F-4D97-AF65-F5344CB8AC3E}">
        <p14:creationId xmlns:p14="http://schemas.microsoft.com/office/powerpoint/2010/main" val="891251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5C10ED-8D9C-D0D2-D13A-F6E4AEE0DA23}"/>
              </a:ext>
            </a:extLst>
          </p:cNvPr>
          <p:cNvSpPr>
            <a:spLocks noGrp="1"/>
          </p:cNvSpPr>
          <p:nvPr>
            <p:ph type="title"/>
          </p:nvPr>
        </p:nvSpPr>
        <p:spPr/>
        <p:txBody>
          <a:bodyPr/>
          <a:lstStyle/>
          <a:p>
            <a:r>
              <a:rPr lang="de-DE"/>
              <a:t>Translational Plan</a:t>
            </a:r>
          </a:p>
        </p:txBody>
      </p:sp>
      <p:sp>
        <p:nvSpPr>
          <p:cNvPr id="3" name="Inhaltsplatzhalter 2">
            <a:extLst>
              <a:ext uri="{FF2B5EF4-FFF2-40B4-BE49-F238E27FC236}">
                <a16:creationId xmlns:a16="http://schemas.microsoft.com/office/drawing/2014/main" id="{72192976-E8C6-128A-E32B-5F0EEC822E83}"/>
              </a:ext>
            </a:extLst>
          </p:cNvPr>
          <p:cNvSpPr>
            <a:spLocks noGrp="1"/>
          </p:cNvSpPr>
          <p:nvPr>
            <p:ph idx="1"/>
          </p:nvPr>
        </p:nvSpPr>
        <p:spPr/>
        <p:txBody>
          <a:bodyPr/>
          <a:lstStyle/>
          <a:p>
            <a:r>
              <a:rPr lang="de-DE"/>
              <a:t>[</a:t>
            </a:r>
            <a:r>
              <a:rPr lang="de-DE" err="1"/>
              <a:t>Please</a:t>
            </a:r>
            <a:r>
              <a:rPr lang="de-DE"/>
              <a:t> </a:t>
            </a:r>
            <a:r>
              <a:rPr lang="de-DE" err="1"/>
              <a:t>include</a:t>
            </a:r>
            <a:r>
              <a:rPr lang="de-DE"/>
              <a:t> </a:t>
            </a:r>
            <a:r>
              <a:rPr lang="de-DE" err="1"/>
              <a:t>latest</a:t>
            </a:r>
            <a:r>
              <a:rPr lang="de-DE"/>
              <a:t> Translational Plan Gantt Chart </a:t>
            </a:r>
            <a:r>
              <a:rPr lang="de-DE" err="1"/>
              <a:t>from</a:t>
            </a:r>
            <a:r>
              <a:rPr lang="de-DE"/>
              <a:t> </a:t>
            </a:r>
            <a:r>
              <a:rPr lang="de-DE" err="1"/>
              <a:t>FoCuS</a:t>
            </a:r>
            <a:r>
              <a:rPr lang="de-DE"/>
              <a:t>, </a:t>
            </a:r>
            <a:r>
              <a:rPr lang="de-DE" err="1"/>
              <a:t>as</a:t>
            </a:r>
            <a:r>
              <a:rPr lang="de-DE"/>
              <a:t> </a:t>
            </a:r>
            <a:r>
              <a:rPr lang="de-DE" err="1"/>
              <a:t>available</a:t>
            </a:r>
            <a:r>
              <a:rPr lang="de-DE"/>
              <a:t>]</a:t>
            </a:r>
          </a:p>
        </p:txBody>
      </p:sp>
      <p:sp>
        <p:nvSpPr>
          <p:cNvPr id="4" name="Textplatzhalter 3">
            <a:extLst>
              <a:ext uri="{FF2B5EF4-FFF2-40B4-BE49-F238E27FC236}">
                <a16:creationId xmlns:a16="http://schemas.microsoft.com/office/drawing/2014/main" id="{0C5C0E15-00C6-63C7-AB96-D77C04833A40}"/>
              </a:ext>
            </a:extLst>
          </p:cNvPr>
          <p:cNvSpPr>
            <a:spLocks noGrp="1"/>
          </p:cNvSpPr>
          <p:nvPr>
            <p:ph type="body" sz="quarter" idx="13"/>
          </p:nvPr>
        </p:nvSpPr>
        <p:spPr/>
        <p:txBody>
          <a:bodyPr/>
          <a:lstStyle/>
          <a:p>
            <a:endParaRPr lang="de-DE"/>
          </a:p>
        </p:txBody>
      </p:sp>
      <p:sp>
        <p:nvSpPr>
          <p:cNvPr id="5" name="Fußzeilenplatzhalter 4">
            <a:extLst>
              <a:ext uri="{FF2B5EF4-FFF2-40B4-BE49-F238E27FC236}">
                <a16:creationId xmlns:a16="http://schemas.microsoft.com/office/drawing/2014/main" id="{E6B6BE8C-560A-647A-44C7-40FE46CCE440}"/>
              </a:ext>
            </a:extLst>
          </p:cNvPr>
          <p:cNvSpPr>
            <a:spLocks noGrp="1"/>
          </p:cNvSpPr>
          <p:nvPr>
            <p:ph type="ftr" sz="quarter" idx="19"/>
          </p:nvPr>
        </p:nvSpPr>
        <p:spPr/>
        <p:txBody>
          <a:bodyPr/>
          <a:lstStyle/>
          <a:p>
            <a:r>
              <a:rPr lang="en-US"/>
              <a:t>ClinPharm Project Overview [target]    |    ONLY FOR INTERNAL USE</a:t>
            </a:r>
          </a:p>
        </p:txBody>
      </p:sp>
      <p:sp>
        <p:nvSpPr>
          <p:cNvPr id="6" name="Foliennummernplatzhalter 5">
            <a:extLst>
              <a:ext uri="{FF2B5EF4-FFF2-40B4-BE49-F238E27FC236}">
                <a16:creationId xmlns:a16="http://schemas.microsoft.com/office/drawing/2014/main" id="{475AC8DB-FFD7-BCD2-1FFB-74EFE5D953FA}"/>
              </a:ext>
            </a:extLst>
          </p:cNvPr>
          <p:cNvSpPr>
            <a:spLocks noGrp="1"/>
          </p:cNvSpPr>
          <p:nvPr>
            <p:ph type="sldNum" sz="quarter" idx="20"/>
          </p:nvPr>
        </p:nvSpPr>
        <p:spPr/>
        <p:txBody>
          <a:bodyPr/>
          <a:lstStyle/>
          <a:p>
            <a:fld id="{DF4E8F9F-5B1F-4F5B-BE49-3245D8C18D9F}" type="slidenum">
              <a:rPr lang="en-US" smtClean="0"/>
              <a:pPr/>
              <a:t>9</a:t>
            </a:fld>
            <a:endParaRPr lang="en-US"/>
          </a:p>
        </p:txBody>
      </p:sp>
    </p:spTree>
    <p:extLst>
      <p:ext uri="{BB962C8B-B14F-4D97-AF65-F5344CB8AC3E}">
        <p14:creationId xmlns:p14="http://schemas.microsoft.com/office/powerpoint/2010/main" val="2199554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B52A0AE-ECAE-7071-E206-940238C854BA}"/>
              </a:ext>
            </a:extLst>
          </p:cNvPr>
          <p:cNvSpPr>
            <a:spLocks noGrp="1"/>
          </p:cNvSpPr>
          <p:nvPr>
            <p:ph type="title"/>
          </p:nvPr>
        </p:nvSpPr>
        <p:spPr/>
        <p:txBody>
          <a:bodyPr/>
          <a:lstStyle/>
          <a:p>
            <a:r>
              <a:rPr lang="de-DE" err="1"/>
              <a:t>Deliverables</a:t>
            </a:r>
            <a:endParaRPr lang="de-DE"/>
          </a:p>
        </p:txBody>
      </p:sp>
      <p:sp>
        <p:nvSpPr>
          <p:cNvPr id="8" name="Untertitel 7">
            <a:extLst>
              <a:ext uri="{FF2B5EF4-FFF2-40B4-BE49-F238E27FC236}">
                <a16:creationId xmlns:a16="http://schemas.microsoft.com/office/drawing/2014/main" id="{A8DC8D1E-8802-E55D-DD13-391044D1AFF7}"/>
              </a:ext>
            </a:extLst>
          </p:cNvPr>
          <p:cNvSpPr>
            <a:spLocks noGrp="1"/>
          </p:cNvSpPr>
          <p:nvPr>
            <p:ph type="subTitle" idx="14"/>
          </p:nvPr>
        </p:nvSpPr>
        <p:spPr>
          <a:xfrm>
            <a:off x="479424" y="3573016"/>
            <a:ext cx="8640912" cy="792088"/>
          </a:xfrm>
        </p:spPr>
        <p:txBody>
          <a:bodyPr/>
          <a:lstStyle/>
          <a:p>
            <a:r>
              <a:rPr lang="de-DE"/>
              <a:t>The </a:t>
            </a:r>
            <a:r>
              <a:rPr lang="de-DE" err="1"/>
              <a:t>next</a:t>
            </a:r>
            <a:r>
              <a:rPr lang="de-DE"/>
              <a:t> </a:t>
            </a:r>
            <a:r>
              <a:rPr lang="de-DE" err="1"/>
              <a:t>slides</a:t>
            </a:r>
            <a:r>
              <a:rPr lang="de-DE"/>
              <a:t> </a:t>
            </a:r>
            <a:r>
              <a:rPr lang="de-DE" err="1"/>
              <a:t>are</a:t>
            </a:r>
            <a:r>
              <a:rPr lang="de-DE"/>
              <a:t> </a:t>
            </a:r>
            <a:r>
              <a:rPr lang="de-DE" err="1"/>
              <a:t>provided</a:t>
            </a:r>
            <a:r>
              <a:rPr lang="de-DE"/>
              <a:t> </a:t>
            </a:r>
            <a:r>
              <a:rPr lang="de-DE" err="1"/>
              <a:t>as</a:t>
            </a:r>
            <a:r>
              <a:rPr lang="de-DE"/>
              <a:t> </a:t>
            </a:r>
            <a:r>
              <a:rPr lang="de-DE" err="1"/>
              <a:t>examples</a:t>
            </a:r>
            <a:r>
              <a:rPr lang="de-DE"/>
              <a:t>, </a:t>
            </a:r>
            <a:r>
              <a:rPr lang="de-DE" err="1"/>
              <a:t>please</a:t>
            </a:r>
            <a:r>
              <a:rPr lang="de-DE"/>
              <a:t> </a:t>
            </a:r>
            <a:r>
              <a:rPr lang="de-DE" err="1"/>
              <a:t>tailor</a:t>
            </a:r>
            <a:r>
              <a:rPr lang="de-DE"/>
              <a:t> </a:t>
            </a:r>
            <a:r>
              <a:rPr lang="de-DE" err="1"/>
              <a:t>them</a:t>
            </a:r>
            <a:r>
              <a:rPr lang="de-DE"/>
              <a:t> </a:t>
            </a:r>
            <a:r>
              <a:rPr lang="de-DE" err="1"/>
              <a:t>to</a:t>
            </a:r>
            <a:r>
              <a:rPr lang="de-DE"/>
              <a:t> </a:t>
            </a:r>
            <a:r>
              <a:rPr lang="de-DE" err="1"/>
              <a:t>your</a:t>
            </a:r>
            <a:r>
              <a:rPr lang="de-DE"/>
              <a:t> </a:t>
            </a:r>
            <a:r>
              <a:rPr lang="de-DE" err="1"/>
              <a:t>project</a:t>
            </a:r>
            <a:endParaRPr lang="de-DE"/>
          </a:p>
        </p:txBody>
      </p:sp>
      <p:sp>
        <p:nvSpPr>
          <p:cNvPr id="6" name="Foliennummernplatzhalter 5">
            <a:extLst>
              <a:ext uri="{FF2B5EF4-FFF2-40B4-BE49-F238E27FC236}">
                <a16:creationId xmlns:a16="http://schemas.microsoft.com/office/drawing/2014/main" id="{9F61596B-D2D1-27C1-2236-1A4B664FEEB1}"/>
              </a:ext>
            </a:extLst>
          </p:cNvPr>
          <p:cNvSpPr>
            <a:spLocks noGrp="1"/>
          </p:cNvSpPr>
          <p:nvPr>
            <p:ph type="sldNum" sz="quarter" idx="16"/>
          </p:nvPr>
        </p:nvSpPr>
        <p:spPr/>
        <p:txBody>
          <a:bodyPr/>
          <a:lstStyle/>
          <a:p>
            <a:fld id="{DF4E8F9F-5B1F-4F5B-BE49-3245D8C18D9F}" type="slidenum">
              <a:rPr lang="en-US" smtClean="0"/>
              <a:pPr/>
              <a:t>10</a:t>
            </a:fld>
            <a:endParaRPr lang="en-US"/>
          </a:p>
        </p:txBody>
      </p:sp>
      <p:sp>
        <p:nvSpPr>
          <p:cNvPr id="5" name="Fußzeilenplatzhalter 4">
            <a:extLst>
              <a:ext uri="{FF2B5EF4-FFF2-40B4-BE49-F238E27FC236}">
                <a16:creationId xmlns:a16="http://schemas.microsoft.com/office/drawing/2014/main" id="{306201CE-840B-D1A4-9690-8BA2DF18632E}"/>
              </a:ext>
            </a:extLst>
          </p:cNvPr>
          <p:cNvSpPr>
            <a:spLocks noGrp="1"/>
          </p:cNvSpPr>
          <p:nvPr>
            <p:ph type="ftr" sz="quarter" idx="19"/>
          </p:nvPr>
        </p:nvSpPr>
        <p:spPr/>
        <p:txBody>
          <a:bodyPr/>
          <a:lstStyle/>
          <a:p>
            <a:r>
              <a:rPr lang="en-US"/>
              <a:t>ClinPharm Project Overview [target]    |    ONLY FOR INTERNAL USE</a:t>
            </a:r>
          </a:p>
        </p:txBody>
      </p:sp>
    </p:spTree>
    <p:extLst>
      <p:ext uri="{BB962C8B-B14F-4D97-AF65-F5344CB8AC3E}">
        <p14:creationId xmlns:p14="http://schemas.microsoft.com/office/powerpoint/2010/main" val="3024556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7C1506-DB42-4C1F-A0AB-9964622DF2CB}"/>
              </a:ext>
            </a:extLst>
          </p:cNvPr>
          <p:cNvSpPr>
            <a:spLocks noGrp="1"/>
          </p:cNvSpPr>
          <p:nvPr>
            <p:ph type="title"/>
          </p:nvPr>
        </p:nvSpPr>
        <p:spPr/>
        <p:txBody>
          <a:bodyPr/>
          <a:lstStyle/>
          <a:p>
            <a:r>
              <a:rPr lang="en-US" b="1"/>
              <a:t>xxxx.P01: Assessments</a:t>
            </a:r>
            <a:r>
              <a:rPr lang="en-US"/>
              <a:t> to enable SOD</a:t>
            </a:r>
          </a:p>
        </p:txBody>
      </p:sp>
      <p:graphicFrame>
        <p:nvGraphicFramePr>
          <p:cNvPr id="7" name="Table 7">
            <a:extLst>
              <a:ext uri="{FF2B5EF4-FFF2-40B4-BE49-F238E27FC236}">
                <a16:creationId xmlns:a16="http://schemas.microsoft.com/office/drawing/2014/main" id="{2AFDECBB-3DFB-41B3-A875-B7AE4B355B01}"/>
              </a:ext>
            </a:extLst>
          </p:cNvPr>
          <p:cNvGraphicFramePr>
            <a:graphicFrameLocks noGrp="1"/>
          </p:cNvGraphicFramePr>
          <p:nvPr>
            <p:ph idx="1"/>
            <p:extLst>
              <p:ext uri="{D42A27DB-BD31-4B8C-83A1-F6EECF244321}">
                <p14:modId xmlns:p14="http://schemas.microsoft.com/office/powerpoint/2010/main" val="2448223405"/>
              </p:ext>
            </p:extLst>
          </p:nvPr>
        </p:nvGraphicFramePr>
        <p:xfrm>
          <a:off x="478852" y="1120133"/>
          <a:ext cx="11233148" cy="4598111"/>
        </p:xfrm>
        <a:graphic>
          <a:graphicData uri="http://schemas.openxmlformats.org/drawingml/2006/table">
            <a:tbl>
              <a:tblPr firstRow="1" bandRow="1">
                <a:tableStyleId>{5C22544A-7EE6-4342-B048-85BDC9FD1C3A}</a:tableStyleId>
              </a:tblPr>
              <a:tblGrid>
                <a:gridCol w="2266663">
                  <a:extLst>
                    <a:ext uri="{9D8B030D-6E8A-4147-A177-3AD203B41FA5}">
                      <a16:colId xmlns:a16="http://schemas.microsoft.com/office/drawing/2014/main" val="2611021215"/>
                    </a:ext>
                  </a:extLst>
                </a:gridCol>
                <a:gridCol w="2394201">
                  <a:extLst>
                    <a:ext uri="{9D8B030D-6E8A-4147-A177-3AD203B41FA5}">
                      <a16:colId xmlns:a16="http://schemas.microsoft.com/office/drawing/2014/main" val="1075309433"/>
                    </a:ext>
                  </a:extLst>
                </a:gridCol>
                <a:gridCol w="4098552">
                  <a:extLst>
                    <a:ext uri="{9D8B030D-6E8A-4147-A177-3AD203B41FA5}">
                      <a16:colId xmlns:a16="http://schemas.microsoft.com/office/drawing/2014/main" val="3479222849"/>
                    </a:ext>
                  </a:extLst>
                </a:gridCol>
                <a:gridCol w="2473732">
                  <a:extLst>
                    <a:ext uri="{9D8B030D-6E8A-4147-A177-3AD203B41FA5}">
                      <a16:colId xmlns:a16="http://schemas.microsoft.com/office/drawing/2014/main" val="1464593790"/>
                    </a:ext>
                  </a:extLst>
                </a:gridCol>
              </a:tblGrid>
              <a:tr h="319177">
                <a:tc>
                  <a:txBody>
                    <a:bodyPr/>
                    <a:lstStyle/>
                    <a:p>
                      <a:r>
                        <a:rPr lang="en-US" sz="1400">
                          <a:solidFill>
                            <a:schemeClr val="tx1"/>
                          </a:solidFill>
                        </a:rPr>
                        <a:t>Question</a:t>
                      </a:r>
                    </a:p>
                  </a:txBody>
                  <a:tcPr marL="121920" marR="121920" marT="60960" marB="60960">
                    <a:solidFill>
                      <a:schemeClr val="accent2"/>
                    </a:solidFill>
                  </a:tcPr>
                </a:tc>
                <a:tc>
                  <a:txBody>
                    <a:bodyPr/>
                    <a:lstStyle/>
                    <a:p>
                      <a:r>
                        <a:rPr lang="en-US" sz="1400">
                          <a:solidFill>
                            <a:schemeClr val="tx1"/>
                          </a:solidFill>
                        </a:rPr>
                        <a:t>Data</a:t>
                      </a:r>
                    </a:p>
                  </a:txBody>
                  <a:tcPr marL="121920" marR="121920" marT="60960" marB="60960">
                    <a:solidFill>
                      <a:schemeClr val="accent2"/>
                    </a:solidFill>
                  </a:tcPr>
                </a:tc>
                <a:tc>
                  <a:txBody>
                    <a:bodyPr/>
                    <a:lstStyle/>
                    <a:p>
                      <a:r>
                        <a:rPr lang="en-US" sz="1400">
                          <a:solidFill>
                            <a:schemeClr val="tx1"/>
                          </a:solidFill>
                        </a:rPr>
                        <a:t>[Deliverable, lead]</a:t>
                      </a:r>
                    </a:p>
                  </a:txBody>
                  <a:tcPr marL="121920" marR="121920" marT="60960" marB="60960">
                    <a:solidFill>
                      <a:schemeClr val="accent2"/>
                    </a:solidFill>
                  </a:tcPr>
                </a:tc>
                <a:tc>
                  <a:txBody>
                    <a:bodyPr/>
                    <a:lstStyle/>
                    <a:p>
                      <a:r>
                        <a:rPr lang="en-US" sz="1400">
                          <a:solidFill>
                            <a:schemeClr val="tx1"/>
                          </a:solidFill>
                        </a:rPr>
                        <a:t>Purpose / Impact</a:t>
                      </a:r>
                    </a:p>
                  </a:txBody>
                  <a:tcPr marL="121920" marR="121920" marT="60960" marB="60960">
                    <a:solidFill>
                      <a:schemeClr val="accent2"/>
                    </a:solidFill>
                  </a:tcPr>
                </a:tc>
                <a:extLst>
                  <a:ext uri="{0D108BD9-81ED-4DB2-BD59-A6C34878D82A}">
                    <a16:rowId xmlns:a16="http://schemas.microsoft.com/office/drawing/2014/main" val="2853126929"/>
                  </a:ext>
                </a:extLst>
              </a:tr>
              <a:tr h="1321498">
                <a:tc>
                  <a:txBody>
                    <a:bodyPr/>
                    <a:lstStyle/>
                    <a:p>
                      <a:r>
                        <a:rPr lang="en-US" sz="1000">
                          <a:latin typeface="+mn-lt"/>
                        </a:rPr>
                        <a:t>What are the DDI liabilities? </a:t>
                      </a:r>
                      <a:br>
                        <a:rPr lang="en-US" sz="1000">
                          <a:latin typeface="+mn-lt"/>
                        </a:rPr>
                      </a:br>
                      <a:r>
                        <a:rPr lang="en-US" sz="1000">
                          <a:latin typeface="+mn-lt"/>
                        </a:rPr>
                        <a:t>Are any early DDI trials needed?</a:t>
                      </a:r>
                    </a:p>
                  </a:txBody>
                  <a:tcPr marL="121920" marR="121920" marT="60960" marB="60960"/>
                </a:tc>
                <a:tc>
                  <a:txBody>
                    <a:bodyPr/>
                    <a:lstStyle/>
                    <a:p>
                      <a:r>
                        <a:rPr lang="en-US" sz="1000">
                          <a:latin typeface="+mn-lt"/>
                        </a:rPr>
                        <a:t>In vitro data from DDS</a:t>
                      </a:r>
                    </a:p>
                  </a:txBody>
                  <a:tcPr marL="121920" marR="121920" marT="60960" marB="60960"/>
                </a:tc>
                <a:tc>
                  <a:txBody>
                    <a:bodyPr/>
                    <a:lstStyle/>
                    <a:p>
                      <a:pPr marL="228600" indent="-228600">
                        <a:buAutoNum type="arabicPeriod"/>
                      </a:pPr>
                      <a:r>
                        <a:rPr lang="en-GB" sz="1000"/>
                        <a:t>Assessment of</a:t>
                      </a:r>
                    </a:p>
                    <a:p>
                      <a:pPr marL="628650" lvl="1" indent="-171450">
                        <a:buFont typeface="Arial" panose="020B0604020202020204" pitchFamily="34" charset="0"/>
                        <a:buChar char="•"/>
                      </a:pPr>
                      <a:r>
                        <a:rPr lang="en-GB" sz="1000"/>
                        <a:t>DDI victim liabilities (CYPs, Transporters, UGTs)</a:t>
                      </a:r>
                    </a:p>
                    <a:p>
                      <a:pPr marL="631825" lvl="1" indent="-174625">
                        <a:buFont typeface="Arial" panose="020B0604020202020204" pitchFamily="34" charset="0"/>
                        <a:buChar char="•"/>
                      </a:pPr>
                      <a:r>
                        <a:rPr lang="en-GB" sz="1000"/>
                        <a:t>DDI perpetrator liabilities (CYPs, Transporters, UGTs)</a:t>
                      </a:r>
                    </a:p>
                    <a:p>
                      <a:pPr marL="685800" lvl="1" indent="-228600">
                        <a:buFont typeface="Arial" panose="020B0604020202020204" pitchFamily="34" charset="0"/>
                        <a:buChar char="•"/>
                      </a:pPr>
                      <a:r>
                        <a:rPr lang="en-GB" sz="1000"/>
                        <a:t>potential limitations of Co-Medications, which can be administered in the intended indication [</a:t>
                      </a:r>
                      <a:r>
                        <a:rPr lang="en-GB" sz="1000" err="1"/>
                        <a:t>CPhL</a:t>
                      </a:r>
                      <a:r>
                        <a:rPr lang="en-GB" sz="1000"/>
                        <a:t>]</a:t>
                      </a:r>
                    </a:p>
                    <a:p>
                      <a:pPr marL="228600" lvl="0" indent="-228600">
                        <a:buFont typeface="+mj-lt"/>
                        <a:buAutoNum type="arabicPeriod"/>
                      </a:pPr>
                      <a:r>
                        <a:rPr lang="en-GB" sz="1000"/>
                        <a:t>Identification of any need for early DDI trials (potential also as “go/No-Go decision) [</a:t>
                      </a:r>
                      <a:r>
                        <a:rPr lang="en-GB" sz="1000" err="1"/>
                        <a:t>CPhL</a:t>
                      </a:r>
                      <a:r>
                        <a:rPr lang="en-GB" sz="1000"/>
                        <a:t>]</a:t>
                      </a:r>
                    </a:p>
                  </a:txBody>
                  <a:tcPr marL="121920" marR="121920" marT="60960" marB="60960"/>
                </a:tc>
                <a:tc>
                  <a:txBody>
                    <a:bodyPr/>
                    <a:lstStyle/>
                    <a:p>
                      <a:r>
                        <a:rPr lang="en-US" sz="1000">
                          <a:latin typeface="+mn-lt"/>
                        </a:rPr>
                        <a:t>Appropriate DDI assessments planned for FIH (especially if conducted in patients); Patient safety in FIH (especially if conducted in patients); Status: ongoing</a:t>
                      </a:r>
                    </a:p>
                  </a:txBody>
                  <a:tcPr marL="121920" marR="121920" marT="60960" marB="60960"/>
                </a:tc>
                <a:extLst>
                  <a:ext uri="{0D108BD9-81ED-4DB2-BD59-A6C34878D82A}">
                    <a16:rowId xmlns:a16="http://schemas.microsoft.com/office/drawing/2014/main" val="3565809830"/>
                  </a:ext>
                </a:extLst>
              </a:tr>
              <a:tr h="1084306">
                <a:tc>
                  <a:txBody>
                    <a:bodyPr/>
                    <a:lstStyle/>
                    <a:p>
                      <a:pPr marL="0" marR="0" algn="l">
                        <a:spcBef>
                          <a:spcPts val="0"/>
                        </a:spcBef>
                        <a:spcAft>
                          <a:spcPts val="0"/>
                        </a:spcAft>
                      </a:pPr>
                      <a:endParaRPr lang="en-US" sz="1000">
                        <a:effectLst/>
                        <a:latin typeface="+mn-lt"/>
                        <a:ea typeface="Times New Roman" panose="02020603050405020304" pitchFamily="18" charset="0"/>
                      </a:endParaRPr>
                    </a:p>
                  </a:txBody>
                  <a:tcPr marT="0" marB="0"/>
                </a:tc>
                <a:tc>
                  <a:txBody>
                    <a:bodyPr/>
                    <a:lstStyle/>
                    <a:p>
                      <a:pPr marL="34925" marR="0" algn="l">
                        <a:spcBef>
                          <a:spcPts val="0"/>
                        </a:spcBef>
                        <a:spcAft>
                          <a:spcPts val="0"/>
                        </a:spcAft>
                        <a:tabLst>
                          <a:tab pos="111760" algn="l"/>
                        </a:tabLst>
                      </a:pPr>
                      <a:endParaRPr lang="en-US" sz="1000">
                        <a:effectLst/>
                        <a:latin typeface="+mn-lt"/>
                        <a:ea typeface="Times New Roman" panose="02020603050405020304" pitchFamily="18" charset="0"/>
                      </a:endParaRPr>
                    </a:p>
                  </a:txBody>
                  <a:tcPr marT="0" marB="0"/>
                </a:tc>
                <a:tc>
                  <a:txBody>
                    <a:bodyPr/>
                    <a:lstStyle/>
                    <a:p>
                      <a:pPr marL="0" marR="0" lvl="0" indent="0" algn="l">
                        <a:spcBef>
                          <a:spcPts val="0"/>
                        </a:spcBef>
                        <a:spcAft>
                          <a:spcPts val="0"/>
                        </a:spcAft>
                        <a:buFont typeface="Arial" panose="020B0604020202020204" pitchFamily="34" charset="0"/>
                        <a:buNone/>
                        <a:tabLst>
                          <a:tab pos="111760" algn="l"/>
                        </a:tabLst>
                      </a:pPr>
                      <a:endParaRPr lang="en-US" sz="1000">
                        <a:effectLst/>
                        <a:latin typeface="+mn-lt"/>
                        <a:ea typeface="Times New Roman" panose="02020603050405020304" pitchFamily="18" charset="0"/>
                        <a:cs typeface="Times New Roman" panose="02020603050405020304" pitchFamily="18" charset="0"/>
                      </a:endParaRPr>
                    </a:p>
                  </a:txBody>
                  <a:tcPr marT="0" marB="0"/>
                </a:tc>
                <a:tc>
                  <a:txBody>
                    <a:bodyPr/>
                    <a:lstStyle/>
                    <a:p>
                      <a:endParaRPr lang="en-US" sz="1000">
                        <a:latin typeface="+mn-lt"/>
                      </a:endParaRPr>
                    </a:p>
                  </a:txBody>
                  <a:tcPr marL="121920" marR="121920" marT="60960" marB="60960"/>
                </a:tc>
                <a:extLst>
                  <a:ext uri="{0D108BD9-81ED-4DB2-BD59-A6C34878D82A}">
                    <a16:rowId xmlns:a16="http://schemas.microsoft.com/office/drawing/2014/main" val="3194817988"/>
                  </a:ext>
                </a:extLst>
              </a:tr>
              <a:tr h="1857027">
                <a:tc>
                  <a:txBody>
                    <a:bodyPr/>
                    <a:lstStyle/>
                    <a:p>
                      <a:endParaRPr lang="de-DE"/>
                    </a:p>
                  </a:txBody>
                  <a:tcPr marL="121920" marR="121920" marT="60960" marB="60960"/>
                </a:tc>
                <a:tc>
                  <a:txBody>
                    <a:bodyPr/>
                    <a:lstStyle/>
                    <a:p>
                      <a:endParaRPr lang="de-DE"/>
                    </a:p>
                  </a:txBody>
                  <a:tcPr marL="121920" marR="121920" marT="60960" marB="60960"/>
                </a:tc>
                <a:tc>
                  <a:txBody>
                    <a:bodyPr/>
                    <a:lstStyle/>
                    <a:p>
                      <a:endParaRPr lang="de-DE"/>
                    </a:p>
                  </a:txBody>
                  <a:tcPr marL="121920" marR="121920" marT="60960" marB="60960"/>
                </a:tc>
                <a:tc>
                  <a:txBody>
                    <a:bodyPr/>
                    <a:lstStyle/>
                    <a:p>
                      <a:endParaRPr lang="de-DE"/>
                    </a:p>
                  </a:txBody>
                  <a:tcPr marL="121920" marR="121920" marT="60960" marB="60960"/>
                </a:tc>
                <a:extLst>
                  <a:ext uri="{0D108BD9-81ED-4DB2-BD59-A6C34878D82A}">
                    <a16:rowId xmlns:a16="http://schemas.microsoft.com/office/drawing/2014/main" val="374875848"/>
                  </a:ext>
                </a:extLst>
              </a:tr>
            </a:tbl>
          </a:graphicData>
        </a:graphic>
      </p:graphicFrame>
      <p:sp>
        <p:nvSpPr>
          <p:cNvPr id="2" name="Text Placeholder 1">
            <a:extLst>
              <a:ext uri="{FF2B5EF4-FFF2-40B4-BE49-F238E27FC236}">
                <a16:creationId xmlns:a16="http://schemas.microsoft.com/office/drawing/2014/main" id="{625053D8-8552-4265-99F4-46DB51A041F4}"/>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7272CC06-5918-4B47-B168-CEF131CF4049}"/>
              </a:ext>
            </a:extLst>
          </p:cNvPr>
          <p:cNvSpPr>
            <a:spLocks noGrp="1"/>
          </p:cNvSpPr>
          <p:nvPr>
            <p:ph type="ftr" sz="quarter" idx="19"/>
          </p:nvPr>
        </p:nvSpPr>
        <p:spPr/>
        <p:txBody>
          <a:bodyPr/>
          <a:lstStyle/>
          <a:p>
            <a:r>
              <a:rPr lang="en-US" noProof="0"/>
              <a:t>ClinPharm Project Overview [target]    |    ONLY FOR INTERNAL USE</a:t>
            </a:r>
            <a:endParaRPr lang="en-GB" noProof="0"/>
          </a:p>
        </p:txBody>
      </p:sp>
      <p:sp>
        <p:nvSpPr>
          <p:cNvPr id="3" name="Foliennummernplatzhalter 2">
            <a:extLst>
              <a:ext uri="{FF2B5EF4-FFF2-40B4-BE49-F238E27FC236}">
                <a16:creationId xmlns:a16="http://schemas.microsoft.com/office/drawing/2014/main" id="{1DCC21E9-EB6F-11E9-AB27-8693FF1B54EB}"/>
              </a:ext>
            </a:extLst>
          </p:cNvPr>
          <p:cNvSpPr>
            <a:spLocks noGrp="1"/>
          </p:cNvSpPr>
          <p:nvPr>
            <p:ph type="sldNum" sz="quarter" idx="20"/>
          </p:nvPr>
        </p:nvSpPr>
        <p:spPr/>
        <p:txBody>
          <a:bodyPr/>
          <a:lstStyle/>
          <a:p>
            <a:fld id="{DF4E8F9F-5B1F-4F5B-BE49-3245D8C18D9F}" type="slidenum">
              <a:rPr lang="en-US" smtClean="0"/>
              <a:pPr/>
              <a:t>11</a:t>
            </a:fld>
            <a:endParaRPr lang="en-US"/>
          </a:p>
        </p:txBody>
      </p:sp>
      <p:sp>
        <p:nvSpPr>
          <p:cNvPr id="5" name="Speech Bubble: Rectangle 11">
            <a:extLst>
              <a:ext uri="{FF2B5EF4-FFF2-40B4-BE49-F238E27FC236}">
                <a16:creationId xmlns:a16="http://schemas.microsoft.com/office/drawing/2014/main" id="{E0DC430F-B66A-A840-998D-E5DCC461AED8}"/>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2682387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7C1506-DB42-4C1F-A0AB-9964622DF2CB}"/>
              </a:ext>
            </a:extLst>
          </p:cNvPr>
          <p:cNvSpPr>
            <a:spLocks noGrp="1"/>
          </p:cNvSpPr>
          <p:nvPr>
            <p:ph type="title"/>
          </p:nvPr>
        </p:nvSpPr>
        <p:spPr/>
        <p:txBody>
          <a:bodyPr/>
          <a:lstStyle/>
          <a:p>
            <a:r>
              <a:rPr lang="en-US" b="1"/>
              <a:t>xxxx.P01: Assessments</a:t>
            </a:r>
            <a:r>
              <a:rPr lang="en-US"/>
              <a:t> to enable FIM</a:t>
            </a:r>
          </a:p>
        </p:txBody>
      </p:sp>
      <p:graphicFrame>
        <p:nvGraphicFramePr>
          <p:cNvPr id="7" name="Table 7">
            <a:extLst>
              <a:ext uri="{FF2B5EF4-FFF2-40B4-BE49-F238E27FC236}">
                <a16:creationId xmlns:a16="http://schemas.microsoft.com/office/drawing/2014/main" id="{2AFDECBB-3DFB-41B3-A875-B7AE4B355B01}"/>
              </a:ext>
            </a:extLst>
          </p:cNvPr>
          <p:cNvGraphicFramePr>
            <a:graphicFrameLocks noGrp="1"/>
          </p:cNvGraphicFramePr>
          <p:nvPr>
            <p:ph idx="1"/>
            <p:extLst>
              <p:ext uri="{D42A27DB-BD31-4B8C-83A1-F6EECF244321}">
                <p14:modId xmlns:p14="http://schemas.microsoft.com/office/powerpoint/2010/main" val="733190745"/>
              </p:ext>
            </p:extLst>
          </p:nvPr>
        </p:nvGraphicFramePr>
        <p:xfrm>
          <a:off x="478852" y="1120133"/>
          <a:ext cx="11233148" cy="4770133"/>
        </p:xfrm>
        <a:graphic>
          <a:graphicData uri="http://schemas.openxmlformats.org/drawingml/2006/table">
            <a:tbl>
              <a:tblPr firstRow="1" bandRow="1">
                <a:tableStyleId>{5C22544A-7EE6-4342-B048-85BDC9FD1C3A}</a:tableStyleId>
              </a:tblPr>
              <a:tblGrid>
                <a:gridCol w="2266663">
                  <a:extLst>
                    <a:ext uri="{9D8B030D-6E8A-4147-A177-3AD203B41FA5}">
                      <a16:colId xmlns:a16="http://schemas.microsoft.com/office/drawing/2014/main" val="2611021215"/>
                    </a:ext>
                  </a:extLst>
                </a:gridCol>
                <a:gridCol w="2394201">
                  <a:extLst>
                    <a:ext uri="{9D8B030D-6E8A-4147-A177-3AD203B41FA5}">
                      <a16:colId xmlns:a16="http://schemas.microsoft.com/office/drawing/2014/main" val="1075309433"/>
                    </a:ext>
                  </a:extLst>
                </a:gridCol>
                <a:gridCol w="4484676">
                  <a:extLst>
                    <a:ext uri="{9D8B030D-6E8A-4147-A177-3AD203B41FA5}">
                      <a16:colId xmlns:a16="http://schemas.microsoft.com/office/drawing/2014/main" val="3479222849"/>
                    </a:ext>
                  </a:extLst>
                </a:gridCol>
                <a:gridCol w="2087608">
                  <a:extLst>
                    <a:ext uri="{9D8B030D-6E8A-4147-A177-3AD203B41FA5}">
                      <a16:colId xmlns:a16="http://schemas.microsoft.com/office/drawing/2014/main" val="1464593790"/>
                    </a:ext>
                  </a:extLst>
                </a:gridCol>
              </a:tblGrid>
              <a:tr h="319177">
                <a:tc>
                  <a:txBody>
                    <a:bodyPr/>
                    <a:lstStyle/>
                    <a:p>
                      <a:r>
                        <a:rPr lang="en-US" sz="1400">
                          <a:solidFill>
                            <a:schemeClr val="tx1"/>
                          </a:solidFill>
                        </a:rPr>
                        <a:t>Question</a:t>
                      </a:r>
                    </a:p>
                  </a:txBody>
                  <a:tcPr marL="121920" marR="121920" marT="60960" marB="60960">
                    <a:solidFill>
                      <a:schemeClr val="accent2"/>
                    </a:solidFill>
                  </a:tcPr>
                </a:tc>
                <a:tc>
                  <a:txBody>
                    <a:bodyPr/>
                    <a:lstStyle/>
                    <a:p>
                      <a:r>
                        <a:rPr lang="en-US" sz="1400">
                          <a:solidFill>
                            <a:schemeClr val="tx1"/>
                          </a:solidFill>
                        </a:rPr>
                        <a:t>Data</a:t>
                      </a:r>
                    </a:p>
                  </a:txBody>
                  <a:tcPr marL="121920" marR="121920" marT="60960" marB="60960">
                    <a:solidFill>
                      <a:schemeClr val="accent2"/>
                    </a:solidFill>
                  </a:tcPr>
                </a:tc>
                <a:tc>
                  <a:txBody>
                    <a:bodyPr/>
                    <a:lstStyle/>
                    <a:p>
                      <a:r>
                        <a:rPr lang="en-US" sz="1400">
                          <a:solidFill>
                            <a:schemeClr val="tx1"/>
                          </a:solidFill>
                        </a:rPr>
                        <a:t>[Deliverable, lead]</a:t>
                      </a:r>
                    </a:p>
                  </a:txBody>
                  <a:tcPr marL="121920" marR="121920" marT="60960" marB="60960">
                    <a:solidFill>
                      <a:schemeClr val="accent2"/>
                    </a:solidFill>
                  </a:tcPr>
                </a:tc>
                <a:tc>
                  <a:txBody>
                    <a:bodyPr/>
                    <a:lstStyle/>
                    <a:p>
                      <a:r>
                        <a:rPr lang="en-US" sz="1400">
                          <a:solidFill>
                            <a:schemeClr val="tx1"/>
                          </a:solidFill>
                        </a:rPr>
                        <a:t>Purpose / Impact</a:t>
                      </a:r>
                    </a:p>
                  </a:txBody>
                  <a:tcPr marL="121920" marR="121920" marT="60960" marB="60960">
                    <a:solidFill>
                      <a:schemeClr val="accent2"/>
                    </a:solidFill>
                  </a:tcPr>
                </a:tc>
                <a:extLst>
                  <a:ext uri="{0D108BD9-81ED-4DB2-BD59-A6C34878D82A}">
                    <a16:rowId xmlns:a16="http://schemas.microsoft.com/office/drawing/2014/main" val="2853126929"/>
                  </a:ext>
                </a:extLst>
              </a:tr>
              <a:tr h="1321498">
                <a:tc>
                  <a:txBody>
                    <a:bodyPr/>
                    <a:lstStyle/>
                    <a:p>
                      <a:r>
                        <a:rPr lang="en-US" sz="1000"/>
                        <a:t>Population PK model development to support dose escalation in SRD + MRD trial</a:t>
                      </a:r>
                      <a:endParaRPr lang="en-US" sz="1000">
                        <a:latin typeface="+mn-lt"/>
                      </a:endParaRPr>
                    </a:p>
                  </a:txBody>
                  <a:tcPr marL="121920" marR="121920" marT="60960" marB="60960"/>
                </a:tc>
                <a:tc>
                  <a:txBody>
                    <a:bodyPr/>
                    <a:lstStyle/>
                    <a:p>
                      <a:r>
                        <a:rPr lang="en-US" sz="1000"/>
                        <a:t>SRD data from xxxx-0001 in healthy volunteers</a:t>
                      </a:r>
                      <a:endParaRPr lang="en-US" sz="1000">
                        <a:latin typeface="+mn-lt"/>
                      </a:endParaRPr>
                    </a:p>
                  </a:txBody>
                  <a:tcPr marL="121920" marR="121920" marT="60960" marB="60960"/>
                </a:tc>
                <a:tc>
                  <a:txBody>
                    <a:bodyPr/>
                    <a:lstStyle/>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r>
                        <a:rPr lang="en-US" sz="1000" kern="1200">
                          <a:solidFill>
                            <a:schemeClr val="dk1"/>
                          </a:solidFill>
                        </a:rPr>
                        <a:t>Develop a POPPK model </a:t>
                      </a:r>
                      <a:r>
                        <a:rPr lang="en-GB" sz="1000" kern="1200">
                          <a:solidFill>
                            <a:schemeClr val="dk1"/>
                          </a:solidFill>
                        </a:rPr>
                        <a:t>to characterize the</a:t>
                      </a:r>
                      <a:r>
                        <a:rPr lang="en-US" sz="1000" kern="1200">
                          <a:solidFill>
                            <a:schemeClr val="dk1"/>
                          </a:solidFill>
                        </a:rPr>
                        <a:t> PK of BI [</a:t>
                      </a:r>
                      <a:r>
                        <a:rPr lang="en-US" sz="1000" kern="1200" err="1">
                          <a:solidFill>
                            <a:schemeClr val="dk1"/>
                          </a:solidFill>
                        </a:rPr>
                        <a:t>xxxxxxx</a:t>
                      </a:r>
                      <a:r>
                        <a:rPr lang="en-US" sz="1000" kern="1200">
                          <a:solidFill>
                            <a:schemeClr val="dk1"/>
                          </a:solidFill>
                        </a:rPr>
                        <a:t>] in healthy volunteers and investigate the influence of covariates on the dose-exposure relationship. [</a:t>
                      </a:r>
                      <a:r>
                        <a:rPr lang="en-US" sz="1000" kern="1200" err="1">
                          <a:solidFill>
                            <a:schemeClr val="dk1"/>
                          </a:solidFill>
                        </a:rPr>
                        <a:t>PMxL</a:t>
                      </a:r>
                      <a:r>
                        <a:rPr lang="en-US" sz="1000" kern="1200">
                          <a:solidFill>
                            <a:schemeClr val="dk1"/>
                          </a:solidFill>
                        </a:rPr>
                        <a:t>]</a:t>
                      </a: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endParaRPr lang="en-US" sz="1000" kern="1200">
                        <a:solidFill>
                          <a:schemeClr val="dk1"/>
                        </a:solidFill>
                      </a:endParaRP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r>
                        <a:rPr lang="en-GB" sz="1000" kern="1200">
                          <a:solidFill>
                            <a:schemeClr val="dk1"/>
                          </a:solidFill>
                        </a:rPr>
                        <a:t>Exposure simulations taking the expected covariate distributions in the target population into account to identify MRD doses / dosing regimens that do not exceed the pre-defined exposure limits. [</a:t>
                      </a:r>
                      <a:r>
                        <a:rPr lang="en-GB" sz="1000" kern="1200" err="1">
                          <a:solidFill>
                            <a:schemeClr val="dk1"/>
                          </a:solidFill>
                        </a:rPr>
                        <a:t>PMxL</a:t>
                      </a:r>
                      <a:r>
                        <a:rPr lang="en-GB" sz="1000" kern="1200">
                          <a:solidFill>
                            <a:schemeClr val="dk1"/>
                          </a:solidFill>
                        </a:rPr>
                        <a:t>]</a:t>
                      </a: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endParaRPr lang="en-US" sz="1000" kern="1200">
                        <a:solidFill>
                          <a:schemeClr val="dk1"/>
                        </a:solidFill>
                        <a:latin typeface="+mn-lt"/>
                        <a:ea typeface="+mn-ea"/>
                        <a:cs typeface="+mn-cs"/>
                      </a:endParaRPr>
                    </a:p>
                  </a:txBody>
                  <a:tcPr marL="121920" marR="121920" marT="60960" marB="60960"/>
                </a:tc>
                <a:tc>
                  <a:txBody>
                    <a:bodyPr/>
                    <a:lstStyle/>
                    <a:p>
                      <a:r>
                        <a:rPr lang="en-US" sz="1000"/>
                        <a:t>Inform MRD-Part of FIH</a:t>
                      </a:r>
                      <a:br>
                        <a:rPr lang="en-US" sz="1000"/>
                      </a:br>
                      <a:r>
                        <a:rPr lang="en-US" sz="1000"/>
                        <a:t>Status: planned for Q4/2025</a:t>
                      </a:r>
                      <a:endParaRPr lang="en-US" sz="1000">
                        <a:latin typeface="+mn-lt"/>
                      </a:endParaRPr>
                    </a:p>
                  </a:txBody>
                  <a:tcPr marL="121920" marR="121920" marT="60960" marB="60960"/>
                </a:tc>
                <a:extLst>
                  <a:ext uri="{0D108BD9-81ED-4DB2-BD59-A6C34878D82A}">
                    <a16:rowId xmlns:a16="http://schemas.microsoft.com/office/drawing/2014/main" val="3565809830"/>
                  </a:ext>
                </a:extLst>
              </a:tr>
              <a:tr h="1084306">
                <a:tc>
                  <a:txBody>
                    <a:bodyPr/>
                    <a:lstStyle/>
                    <a:p>
                      <a:pPr marL="0" marR="0" algn="l">
                        <a:spcBef>
                          <a:spcPts val="0"/>
                        </a:spcBef>
                        <a:spcAft>
                          <a:spcPts val="0"/>
                        </a:spcAft>
                      </a:pPr>
                      <a:endParaRPr lang="en-US" sz="1000">
                        <a:effectLst/>
                        <a:latin typeface="+mn-lt"/>
                        <a:ea typeface="Times New Roman" panose="02020603050405020304" pitchFamily="18" charset="0"/>
                      </a:endParaRPr>
                    </a:p>
                  </a:txBody>
                  <a:tcPr marT="0" marB="0"/>
                </a:tc>
                <a:tc>
                  <a:txBody>
                    <a:bodyPr/>
                    <a:lstStyle/>
                    <a:p>
                      <a:pPr marL="34925" marR="0" algn="l">
                        <a:spcBef>
                          <a:spcPts val="0"/>
                        </a:spcBef>
                        <a:spcAft>
                          <a:spcPts val="0"/>
                        </a:spcAft>
                        <a:tabLst>
                          <a:tab pos="111760" algn="l"/>
                        </a:tabLst>
                      </a:pPr>
                      <a:endParaRPr lang="en-US" sz="1000">
                        <a:effectLst/>
                        <a:latin typeface="+mn-lt"/>
                        <a:ea typeface="Times New Roman" panose="02020603050405020304" pitchFamily="18" charset="0"/>
                      </a:endParaRPr>
                    </a:p>
                  </a:txBody>
                  <a:tcPr marT="0" marB="0"/>
                </a:tc>
                <a:tc>
                  <a:txBody>
                    <a:bodyPr/>
                    <a:lstStyle/>
                    <a:p>
                      <a:pPr marL="0" marR="0" lvl="0" indent="0" algn="l">
                        <a:spcBef>
                          <a:spcPts val="0"/>
                        </a:spcBef>
                        <a:spcAft>
                          <a:spcPts val="0"/>
                        </a:spcAft>
                        <a:buFont typeface="Arial" panose="020B0604020202020204" pitchFamily="34" charset="0"/>
                        <a:buNone/>
                        <a:tabLst>
                          <a:tab pos="111760" algn="l"/>
                        </a:tabLst>
                      </a:pPr>
                      <a:endParaRPr lang="en-US" sz="1000">
                        <a:effectLst/>
                        <a:latin typeface="+mn-lt"/>
                        <a:ea typeface="Times New Roman" panose="02020603050405020304" pitchFamily="18" charset="0"/>
                        <a:cs typeface="Times New Roman" panose="02020603050405020304" pitchFamily="18" charset="0"/>
                      </a:endParaRPr>
                    </a:p>
                  </a:txBody>
                  <a:tcPr marT="0" marB="0"/>
                </a:tc>
                <a:tc>
                  <a:txBody>
                    <a:bodyPr/>
                    <a:lstStyle/>
                    <a:p>
                      <a:endParaRPr lang="en-US" sz="1000">
                        <a:latin typeface="+mn-lt"/>
                      </a:endParaRPr>
                    </a:p>
                  </a:txBody>
                  <a:tcPr marL="121920" marR="121920" marT="60960" marB="60960"/>
                </a:tc>
                <a:extLst>
                  <a:ext uri="{0D108BD9-81ED-4DB2-BD59-A6C34878D82A}">
                    <a16:rowId xmlns:a16="http://schemas.microsoft.com/office/drawing/2014/main" val="3194817988"/>
                  </a:ext>
                </a:extLst>
              </a:tr>
              <a:tr h="1857027">
                <a:tc>
                  <a:txBody>
                    <a:bodyPr/>
                    <a:lstStyle/>
                    <a:p>
                      <a:endParaRPr lang="en-US" sz="1000">
                        <a:latin typeface="+mn-lt"/>
                      </a:endParaRPr>
                    </a:p>
                  </a:txBody>
                  <a:tcPr marL="121920" marR="121920" marT="60960" marB="60960"/>
                </a:tc>
                <a:tc>
                  <a:txBody>
                    <a:bodyPr/>
                    <a:lstStyle/>
                    <a:p>
                      <a:endParaRPr lang="en-US" sz="1000">
                        <a:latin typeface="+mn-lt"/>
                      </a:endParaRPr>
                    </a:p>
                  </a:txBody>
                  <a:tcPr marL="121920" marR="121920" marT="60960" marB="60960"/>
                </a:tc>
                <a:tc>
                  <a:txBody>
                    <a:bodyPr/>
                    <a:lstStyle/>
                    <a:p>
                      <a:pPr marL="228600" indent="-228600">
                        <a:buAutoNum type="arabicParenR"/>
                      </a:pPr>
                      <a:endParaRPr lang="en-US" sz="1000"/>
                    </a:p>
                  </a:txBody>
                  <a:tcPr marL="121920" marR="121920" marT="60960" marB="60960"/>
                </a:tc>
                <a:tc>
                  <a:txBody>
                    <a:bodyPr/>
                    <a:lstStyle/>
                    <a:p>
                      <a:endParaRPr lang="en-US" sz="1000">
                        <a:latin typeface="+mn-lt"/>
                      </a:endParaRPr>
                    </a:p>
                  </a:txBody>
                  <a:tcPr marL="121920" marR="121920" marT="60960" marB="60960"/>
                </a:tc>
                <a:extLst>
                  <a:ext uri="{0D108BD9-81ED-4DB2-BD59-A6C34878D82A}">
                    <a16:rowId xmlns:a16="http://schemas.microsoft.com/office/drawing/2014/main" val="374875848"/>
                  </a:ext>
                </a:extLst>
              </a:tr>
            </a:tbl>
          </a:graphicData>
        </a:graphic>
      </p:graphicFrame>
      <p:sp>
        <p:nvSpPr>
          <p:cNvPr id="2" name="Text Placeholder 1">
            <a:extLst>
              <a:ext uri="{FF2B5EF4-FFF2-40B4-BE49-F238E27FC236}">
                <a16:creationId xmlns:a16="http://schemas.microsoft.com/office/drawing/2014/main" id="{625053D8-8552-4265-99F4-46DB51A041F4}"/>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7272CC06-5918-4B47-B168-CEF131CF4049}"/>
              </a:ext>
            </a:extLst>
          </p:cNvPr>
          <p:cNvSpPr>
            <a:spLocks noGrp="1"/>
          </p:cNvSpPr>
          <p:nvPr>
            <p:ph type="ftr" sz="quarter" idx="19"/>
          </p:nvPr>
        </p:nvSpPr>
        <p:spPr/>
        <p:txBody>
          <a:bodyPr/>
          <a:lstStyle/>
          <a:p>
            <a:r>
              <a:rPr lang="en-US" noProof="0"/>
              <a:t>ClinPharm Project Overview [target]    |    ONLY FOR INTERNAL USE</a:t>
            </a:r>
            <a:endParaRPr lang="en-GB" noProof="0"/>
          </a:p>
        </p:txBody>
      </p:sp>
      <p:sp>
        <p:nvSpPr>
          <p:cNvPr id="3" name="Foliennummernplatzhalter 2">
            <a:extLst>
              <a:ext uri="{FF2B5EF4-FFF2-40B4-BE49-F238E27FC236}">
                <a16:creationId xmlns:a16="http://schemas.microsoft.com/office/drawing/2014/main" id="{1DCC21E9-EB6F-11E9-AB27-8693FF1B54EB}"/>
              </a:ext>
            </a:extLst>
          </p:cNvPr>
          <p:cNvSpPr>
            <a:spLocks noGrp="1"/>
          </p:cNvSpPr>
          <p:nvPr>
            <p:ph type="sldNum" sz="quarter" idx="20"/>
          </p:nvPr>
        </p:nvSpPr>
        <p:spPr/>
        <p:txBody>
          <a:bodyPr/>
          <a:lstStyle/>
          <a:p>
            <a:fld id="{DF4E8F9F-5B1F-4F5B-BE49-3245D8C18D9F}" type="slidenum">
              <a:rPr lang="en-US" smtClean="0"/>
              <a:pPr/>
              <a:t>12</a:t>
            </a:fld>
            <a:endParaRPr lang="en-US"/>
          </a:p>
        </p:txBody>
      </p:sp>
      <p:sp>
        <p:nvSpPr>
          <p:cNvPr id="5" name="Speech Bubble: Rectangle 11">
            <a:extLst>
              <a:ext uri="{FF2B5EF4-FFF2-40B4-BE49-F238E27FC236}">
                <a16:creationId xmlns:a16="http://schemas.microsoft.com/office/drawing/2014/main" id="{E0DC430F-B66A-A840-998D-E5DCC461AED8}"/>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4108639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7C1506-DB42-4C1F-A0AB-9964622DF2CB}"/>
              </a:ext>
            </a:extLst>
          </p:cNvPr>
          <p:cNvSpPr>
            <a:spLocks noGrp="1"/>
          </p:cNvSpPr>
          <p:nvPr>
            <p:ph type="title"/>
          </p:nvPr>
        </p:nvSpPr>
        <p:spPr/>
        <p:txBody>
          <a:bodyPr/>
          <a:lstStyle/>
          <a:p>
            <a:r>
              <a:rPr lang="en-US" b="1"/>
              <a:t>xxxx.P01: Assessments</a:t>
            </a:r>
            <a:r>
              <a:rPr lang="en-US"/>
              <a:t> to enable </a:t>
            </a:r>
            <a:r>
              <a:rPr lang="en-US" err="1"/>
              <a:t>PoCP</a:t>
            </a:r>
            <a:r>
              <a:rPr lang="en-US"/>
              <a:t>/</a:t>
            </a:r>
            <a:r>
              <a:rPr lang="en-US" err="1"/>
              <a:t>PoCC</a:t>
            </a:r>
            <a:endParaRPr lang="en-US"/>
          </a:p>
        </p:txBody>
      </p:sp>
      <p:graphicFrame>
        <p:nvGraphicFramePr>
          <p:cNvPr id="7" name="Table 7">
            <a:extLst>
              <a:ext uri="{FF2B5EF4-FFF2-40B4-BE49-F238E27FC236}">
                <a16:creationId xmlns:a16="http://schemas.microsoft.com/office/drawing/2014/main" id="{2AFDECBB-3DFB-41B3-A875-B7AE4B355B01}"/>
              </a:ext>
            </a:extLst>
          </p:cNvPr>
          <p:cNvGraphicFramePr>
            <a:graphicFrameLocks noGrp="1"/>
          </p:cNvGraphicFramePr>
          <p:nvPr>
            <p:ph idx="1"/>
            <p:extLst>
              <p:ext uri="{D42A27DB-BD31-4B8C-83A1-F6EECF244321}">
                <p14:modId xmlns:p14="http://schemas.microsoft.com/office/powerpoint/2010/main" val="274879740"/>
              </p:ext>
            </p:extLst>
          </p:nvPr>
        </p:nvGraphicFramePr>
        <p:xfrm>
          <a:off x="478852" y="1120133"/>
          <a:ext cx="11233148" cy="4770133"/>
        </p:xfrm>
        <a:graphic>
          <a:graphicData uri="http://schemas.openxmlformats.org/drawingml/2006/table">
            <a:tbl>
              <a:tblPr firstRow="1" bandRow="1">
                <a:tableStyleId>{5C22544A-7EE6-4342-B048-85BDC9FD1C3A}</a:tableStyleId>
              </a:tblPr>
              <a:tblGrid>
                <a:gridCol w="2266663">
                  <a:extLst>
                    <a:ext uri="{9D8B030D-6E8A-4147-A177-3AD203B41FA5}">
                      <a16:colId xmlns:a16="http://schemas.microsoft.com/office/drawing/2014/main" val="2611021215"/>
                    </a:ext>
                  </a:extLst>
                </a:gridCol>
                <a:gridCol w="2394201">
                  <a:extLst>
                    <a:ext uri="{9D8B030D-6E8A-4147-A177-3AD203B41FA5}">
                      <a16:colId xmlns:a16="http://schemas.microsoft.com/office/drawing/2014/main" val="1075309433"/>
                    </a:ext>
                  </a:extLst>
                </a:gridCol>
                <a:gridCol w="4484676">
                  <a:extLst>
                    <a:ext uri="{9D8B030D-6E8A-4147-A177-3AD203B41FA5}">
                      <a16:colId xmlns:a16="http://schemas.microsoft.com/office/drawing/2014/main" val="3479222849"/>
                    </a:ext>
                  </a:extLst>
                </a:gridCol>
                <a:gridCol w="2087608">
                  <a:extLst>
                    <a:ext uri="{9D8B030D-6E8A-4147-A177-3AD203B41FA5}">
                      <a16:colId xmlns:a16="http://schemas.microsoft.com/office/drawing/2014/main" val="1464593790"/>
                    </a:ext>
                  </a:extLst>
                </a:gridCol>
              </a:tblGrid>
              <a:tr h="319177">
                <a:tc>
                  <a:txBody>
                    <a:bodyPr/>
                    <a:lstStyle/>
                    <a:p>
                      <a:r>
                        <a:rPr lang="en-US" sz="1400">
                          <a:solidFill>
                            <a:schemeClr val="tx1"/>
                          </a:solidFill>
                        </a:rPr>
                        <a:t>Question</a:t>
                      </a:r>
                    </a:p>
                  </a:txBody>
                  <a:tcPr marL="121920" marR="121920" marT="60960" marB="60960">
                    <a:solidFill>
                      <a:schemeClr val="accent2"/>
                    </a:solidFill>
                  </a:tcPr>
                </a:tc>
                <a:tc>
                  <a:txBody>
                    <a:bodyPr/>
                    <a:lstStyle/>
                    <a:p>
                      <a:r>
                        <a:rPr lang="en-US" sz="1400">
                          <a:solidFill>
                            <a:schemeClr val="tx1"/>
                          </a:solidFill>
                        </a:rPr>
                        <a:t>Data</a:t>
                      </a:r>
                    </a:p>
                  </a:txBody>
                  <a:tcPr marL="121920" marR="121920" marT="60960" marB="60960">
                    <a:solidFill>
                      <a:schemeClr val="accent2"/>
                    </a:solidFill>
                  </a:tcPr>
                </a:tc>
                <a:tc>
                  <a:txBody>
                    <a:bodyPr/>
                    <a:lstStyle/>
                    <a:p>
                      <a:r>
                        <a:rPr lang="en-US" sz="1400">
                          <a:solidFill>
                            <a:schemeClr val="tx1"/>
                          </a:solidFill>
                        </a:rPr>
                        <a:t>[Deliverable, lead]</a:t>
                      </a:r>
                    </a:p>
                  </a:txBody>
                  <a:tcPr marL="121920" marR="121920" marT="60960" marB="60960">
                    <a:solidFill>
                      <a:schemeClr val="accent2"/>
                    </a:solidFill>
                  </a:tcPr>
                </a:tc>
                <a:tc>
                  <a:txBody>
                    <a:bodyPr/>
                    <a:lstStyle/>
                    <a:p>
                      <a:r>
                        <a:rPr lang="en-US" sz="1400">
                          <a:solidFill>
                            <a:schemeClr val="tx1"/>
                          </a:solidFill>
                        </a:rPr>
                        <a:t>Purpose / Impact</a:t>
                      </a:r>
                    </a:p>
                  </a:txBody>
                  <a:tcPr marL="121920" marR="121920" marT="60960" marB="60960">
                    <a:solidFill>
                      <a:schemeClr val="accent2"/>
                    </a:solidFill>
                  </a:tcPr>
                </a:tc>
                <a:extLst>
                  <a:ext uri="{0D108BD9-81ED-4DB2-BD59-A6C34878D82A}">
                    <a16:rowId xmlns:a16="http://schemas.microsoft.com/office/drawing/2014/main" val="2853126929"/>
                  </a:ext>
                </a:extLst>
              </a:tr>
              <a:tr h="1321498">
                <a:tc>
                  <a:txBody>
                    <a:bodyPr/>
                    <a:lstStyle/>
                    <a:p>
                      <a:r>
                        <a:rPr lang="en-US" sz="1000"/>
                        <a:t>Which doses / dosing regimens of BI [</a:t>
                      </a:r>
                      <a:r>
                        <a:rPr lang="en-US" sz="1000" err="1"/>
                        <a:t>xxxxxxx</a:t>
                      </a:r>
                      <a:r>
                        <a:rPr lang="en-US" sz="1000"/>
                        <a:t>] ensure that the geometric mean plasma concentrations will not exceed the exposure limits for free Cmax and free AUC</a:t>
                      </a:r>
                      <a:r>
                        <a:rPr lang="en-US" sz="1000" baseline="-25000"/>
                        <a:t>0-24h</a:t>
                      </a:r>
                      <a:r>
                        <a:rPr lang="en-US" sz="1000"/>
                        <a:t> at steady state in the target population?</a:t>
                      </a:r>
                      <a:endParaRPr lang="en-US" sz="1000">
                        <a:latin typeface="+mn-lt"/>
                      </a:endParaRPr>
                    </a:p>
                  </a:txBody>
                  <a:tcPr marL="121920" marR="121920" marT="60960" marB="60960"/>
                </a:tc>
                <a:tc>
                  <a:txBody>
                    <a:bodyPr/>
                    <a:lstStyle/>
                    <a:p>
                      <a:r>
                        <a:rPr lang="en-US" sz="1000"/>
                        <a:t>SRD data from xxxx-0001 in healthy volunteers</a:t>
                      </a:r>
                      <a:endParaRPr lang="en-US" sz="1000">
                        <a:latin typeface="+mn-lt"/>
                      </a:endParaRPr>
                    </a:p>
                  </a:txBody>
                  <a:tcPr marL="121920" marR="121920" marT="60960" marB="60960"/>
                </a:tc>
                <a:tc>
                  <a:txBody>
                    <a:bodyPr/>
                    <a:lstStyle/>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r>
                        <a:rPr lang="en-US" sz="1000" kern="1200">
                          <a:solidFill>
                            <a:schemeClr val="dk1"/>
                          </a:solidFill>
                        </a:rPr>
                        <a:t>Develop a POPPK model </a:t>
                      </a:r>
                      <a:r>
                        <a:rPr lang="en-GB" sz="1000" kern="1200">
                          <a:solidFill>
                            <a:schemeClr val="dk1"/>
                          </a:solidFill>
                        </a:rPr>
                        <a:t>to characterize the</a:t>
                      </a:r>
                      <a:r>
                        <a:rPr lang="en-US" sz="1000" kern="1200">
                          <a:solidFill>
                            <a:schemeClr val="dk1"/>
                          </a:solidFill>
                        </a:rPr>
                        <a:t> PK of BI [</a:t>
                      </a:r>
                      <a:r>
                        <a:rPr lang="en-US" sz="1000" kern="1200" err="1">
                          <a:solidFill>
                            <a:schemeClr val="dk1"/>
                          </a:solidFill>
                        </a:rPr>
                        <a:t>xxxxxxx</a:t>
                      </a:r>
                      <a:r>
                        <a:rPr lang="en-US" sz="1000" kern="1200">
                          <a:solidFill>
                            <a:schemeClr val="dk1"/>
                          </a:solidFill>
                        </a:rPr>
                        <a:t>] in healthy volunteers and investigate the influence of covariates on the dose-exposure relationship. [</a:t>
                      </a:r>
                      <a:r>
                        <a:rPr lang="en-US" sz="1000" kern="1200" err="1">
                          <a:solidFill>
                            <a:schemeClr val="dk1"/>
                          </a:solidFill>
                        </a:rPr>
                        <a:t>PMxL</a:t>
                      </a:r>
                      <a:r>
                        <a:rPr lang="en-US" sz="1000" kern="1200">
                          <a:solidFill>
                            <a:schemeClr val="dk1"/>
                          </a:solidFill>
                        </a:rPr>
                        <a:t>]</a:t>
                      </a: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endParaRPr lang="en-US" sz="1000" kern="1200">
                        <a:solidFill>
                          <a:schemeClr val="dk1"/>
                        </a:solidFill>
                      </a:endParaRP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r>
                        <a:rPr lang="en-GB" sz="1000" kern="1200">
                          <a:solidFill>
                            <a:schemeClr val="dk1"/>
                          </a:solidFill>
                        </a:rPr>
                        <a:t>Exposure simulations taking the expected covariate distributions in the target population into account to identify MRD doses / dosing regimens that do not exceed the pre-defined exposure limits. [</a:t>
                      </a:r>
                      <a:r>
                        <a:rPr lang="en-GB" sz="1000" kern="1200" err="1">
                          <a:solidFill>
                            <a:schemeClr val="dk1"/>
                          </a:solidFill>
                        </a:rPr>
                        <a:t>PMxL</a:t>
                      </a:r>
                      <a:r>
                        <a:rPr lang="en-GB" sz="1000" kern="1200">
                          <a:solidFill>
                            <a:schemeClr val="dk1"/>
                          </a:solidFill>
                        </a:rPr>
                        <a:t>]</a:t>
                      </a:r>
                    </a:p>
                    <a:p>
                      <a:pPr marL="228600" marR="0" lvl="0" indent="-228600" algn="l" defTabSz="914400" rtl="0" eaLnBrk="1" latinLnBrk="0" hangingPunct="1">
                        <a:spcBef>
                          <a:spcPts val="0"/>
                        </a:spcBef>
                        <a:spcAft>
                          <a:spcPts val="0"/>
                        </a:spcAft>
                        <a:buFont typeface="Arial" panose="020B0604020202020204" pitchFamily="34" charset="0"/>
                        <a:buAutoNum type="arabicParenR"/>
                        <a:tabLst>
                          <a:tab pos="111760" algn="l"/>
                        </a:tabLst>
                      </a:pPr>
                      <a:endParaRPr lang="en-US" sz="1000" kern="1200">
                        <a:solidFill>
                          <a:schemeClr val="dk1"/>
                        </a:solidFill>
                        <a:latin typeface="+mn-lt"/>
                        <a:ea typeface="+mn-ea"/>
                        <a:cs typeface="+mn-cs"/>
                      </a:endParaRPr>
                    </a:p>
                  </a:txBody>
                  <a:tcPr marL="121920" marR="121920" marT="60960" marB="60960"/>
                </a:tc>
                <a:tc>
                  <a:txBody>
                    <a:bodyPr/>
                    <a:lstStyle/>
                    <a:p>
                      <a:r>
                        <a:rPr lang="en-US" sz="1000"/>
                        <a:t>Inform MRD CTP</a:t>
                      </a:r>
                      <a:br>
                        <a:rPr lang="en-US" sz="1000"/>
                      </a:br>
                      <a:r>
                        <a:rPr lang="en-US" sz="1000"/>
                        <a:t>Status: planned for 2027</a:t>
                      </a:r>
                      <a:endParaRPr lang="en-US" sz="1000">
                        <a:latin typeface="+mn-lt"/>
                      </a:endParaRPr>
                    </a:p>
                  </a:txBody>
                  <a:tcPr marL="121920" marR="121920" marT="60960" marB="60960"/>
                </a:tc>
                <a:extLst>
                  <a:ext uri="{0D108BD9-81ED-4DB2-BD59-A6C34878D82A}">
                    <a16:rowId xmlns:a16="http://schemas.microsoft.com/office/drawing/2014/main" val="3565809830"/>
                  </a:ext>
                </a:extLst>
              </a:tr>
              <a:tr h="1084306">
                <a:tc>
                  <a:txBody>
                    <a:bodyPr/>
                    <a:lstStyle/>
                    <a:p>
                      <a:pPr marL="0" marR="0" algn="l">
                        <a:spcBef>
                          <a:spcPts val="0"/>
                        </a:spcBef>
                        <a:spcAft>
                          <a:spcPts val="0"/>
                        </a:spcAft>
                      </a:pPr>
                      <a:endParaRPr lang="en-US" sz="1000">
                        <a:effectLst/>
                        <a:latin typeface="+mn-lt"/>
                        <a:ea typeface="Times New Roman" panose="02020603050405020304" pitchFamily="18" charset="0"/>
                      </a:endParaRPr>
                    </a:p>
                  </a:txBody>
                  <a:tcPr marT="0" marB="0"/>
                </a:tc>
                <a:tc>
                  <a:txBody>
                    <a:bodyPr/>
                    <a:lstStyle/>
                    <a:p>
                      <a:pPr marL="34925" marR="0" algn="l">
                        <a:spcBef>
                          <a:spcPts val="0"/>
                        </a:spcBef>
                        <a:spcAft>
                          <a:spcPts val="0"/>
                        </a:spcAft>
                        <a:tabLst>
                          <a:tab pos="111760" algn="l"/>
                        </a:tabLst>
                      </a:pPr>
                      <a:endParaRPr lang="en-US" sz="1000">
                        <a:effectLst/>
                        <a:latin typeface="+mn-lt"/>
                        <a:ea typeface="Times New Roman" panose="02020603050405020304" pitchFamily="18" charset="0"/>
                      </a:endParaRPr>
                    </a:p>
                  </a:txBody>
                  <a:tcPr marT="0" marB="0"/>
                </a:tc>
                <a:tc>
                  <a:txBody>
                    <a:bodyPr/>
                    <a:lstStyle/>
                    <a:p>
                      <a:pPr marL="0" marR="0" lvl="0" indent="0" algn="l">
                        <a:spcBef>
                          <a:spcPts val="0"/>
                        </a:spcBef>
                        <a:spcAft>
                          <a:spcPts val="0"/>
                        </a:spcAft>
                        <a:buFont typeface="Arial" panose="020B0604020202020204" pitchFamily="34" charset="0"/>
                        <a:buNone/>
                        <a:tabLst>
                          <a:tab pos="111760" algn="l"/>
                        </a:tabLst>
                      </a:pPr>
                      <a:endParaRPr lang="en-US" sz="1000">
                        <a:effectLst/>
                        <a:latin typeface="+mn-lt"/>
                        <a:ea typeface="Times New Roman" panose="02020603050405020304" pitchFamily="18" charset="0"/>
                        <a:cs typeface="Times New Roman" panose="02020603050405020304" pitchFamily="18" charset="0"/>
                      </a:endParaRPr>
                    </a:p>
                  </a:txBody>
                  <a:tcPr marT="0" marB="0"/>
                </a:tc>
                <a:tc>
                  <a:txBody>
                    <a:bodyPr/>
                    <a:lstStyle/>
                    <a:p>
                      <a:endParaRPr lang="en-US" sz="1000">
                        <a:latin typeface="+mn-lt"/>
                      </a:endParaRPr>
                    </a:p>
                  </a:txBody>
                  <a:tcPr marL="121920" marR="121920" marT="60960" marB="60960"/>
                </a:tc>
                <a:extLst>
                  <a:ext uri="{0D108BD9-81ED-4DB2-BD59-A6C34878D82A}">
                    <a16:rowId xmlns:a16="http://schemas.microsoft.com/office/drawing/2014/main" val="3194817988"/>
                  </a:ext>
                </a:extLst>
              </a:tr>
              <a:tr h="1857027">
                <a:tc>
                  <a:txBody>
                    <a:bodyPr/>
                    <a:lstStyle/>
                    <a:p>
                      <a:endParaRPr lang="en-US" sz="1000">
                        <a:latin typeface="+mn-lt"/>
                      </a:endParaRPr>
                    </a:p>
                  </a:txBody>
                  <a:tcPr marL="121920" marR="121920" marT="60960" marB="60960"/>
                </a:tc>
                <a:tc>
                  <a:txBody>
                    <a:bodyPr/>
                    <a:lstStyle/>
                    <a:p>
                      <a:endParaRPr lang="en-US" sz="1000">
                        <a:latin typeface="+mn-lt"/>
                      </a:endParaRPr>
                    </a:p>
                  </a:txBody>
                  <a:tcPr marL="121920" marR="121920" marT="60960" marB="60960"/>
                </a:tc>
                <a:tc>
                  <a:txBody>
                    <a:bodyPr/>
                    <a:lstStyle/>
                    <a:p>
                      <a:pPr marL="228600" indent="-228600">
                        <a:buAutoNum type="arabicParenR"/>
                      </a:pPr>
                      <a:endParaRPr lang="en-US" sz="1000"/>
                    </a:p>
                  </a:txBody>
                  <a:tcPr marL="121920" marR="121920" marT="60960" marB="60960"/>
                </a:tc>
                <a:tc>
                  <a:txBody>
                    <a:bodyPr/>
                    <a:lstStyle/>
                    <a:p>
                      <a:endParaRPr lang="en-US" sz="1000">
                        <a:latin typeface="+mn-lt"/>
                      </a:endParaRPr>
                    </a:p>
                  </a:txBody>
                  <a:tcPr marL="121920" marR="121920" marT="60960" marB="60960"/>
                </a:tc>
                <a:extLst>
                  <a:ext uri="{0D108BD9-81ED-4DB2-BD59-A6C34878D82A}">
                    <a16:rowId xmlns:a16="http://schemas.microsoft.com/office/drawing/2014/main" val="374875848"/>
                  </a:ext>
                </a:extLst>
              </a:tr>
            </a:tbl>
          </a:graphicData>
        </a:graphic>
      </p:graphicFrame>
      <p:sp>
        <p:nvSpPr>
          <p:cNvPr id="2" name="Text Placeholder 1">
            <a:extLst>
              <a:ext uri="{FF2B5EF4-FFF2-40B4-BE49-F238E27FC236}">
                <a16:creationId xmlns:a16="http://schemas.microsoft.com/office/drawing/2014/main" id="{625053D8-8552-4265-99F4-46DB51A041F4}"/>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7272CC06-5918-4B47-B168-CEF131CF4049}"/>
              </a:ext>
            </a:extLst>
          </p:cNvPr>
          <p:cNvSpPr>
            <a:spLocks noGrp="1"/>
          </p:cNvSpPr>
          <p:nvPr>
            <p:ph type="ftr" sz="quarter" idx="19"/>
          </p:nvPr>
        </p:nvSpPr>
        <p:spPr/>
        <p:txBody>
          <a:bodyPr/>
          <a:lstStyle/>
          <a:p>
            <a:r>
              <a:rPr lang="en-US" noProof="0"/>
              <a:t>ClinPharm Project Overview [target]    |    ONLY FOR INTERNAL USE</a:t>
            </a:r>
            <a:endParaRPr lang="en-GB" noProof="0"/>
          </a:p>
        </p:txBody>
      </p:sp>
      <p:sp>
        <p:nvSpPr>
          <p:cNvPr id="3" name="Foliennummernplatzhalter 2">
            <a:extLst>
              <a:ext uri="{FF2B5EF4-FFF2-40B4-BE49-F238E27FC236}">
                <a16:creationId xmlns:a16="http://schemas.microsoft.com/office/drawing/2014/main" id="{1DCC21E9-EB6F-11E9-AB27-8693FF1B54EB}"/>
              </a:ext>
            </a:extLst>
          </p:cNvPr>
          <p:cNvSpPr>
            <a:spLocks noGrp="1"/>
          </p:cNvSpPr>
          <p:nvPr>
            <p:ph type="sldNum" sz="quarter" idx="20"/>
          </p:nvPr>
        </p:nvSpPr>
        <p:spPr/>
        <p:txBody>
          <a:bodyPr/>
          <a:lstStyle/>
          <a:p>
            <a:fld id="{DF4E8F9F-5B1F-4F5B-BE49-3245D8C18D9F}" type="slidenum">
              <a:rPr lang="en-US" smtClean="0"/>
              <a:pPr/>
              <a:t>13</a:t>
            </a:fld>
            <a:endParaRPr lang="en-US"/>
          </a:p>
        </p:txBody>
      </p:sp>
      <p:sp>
        <p:nvSpPr>
          <p:cNvPr id="5" name="Speech Bubble: Rectangle 11">
            <a:extLst>
              <a:ext uri="{FF2B5EF4-FFF2-40B4-BE49-F238E27FC236}">
                <a16:creationId xmlns:a16="http://schemas.microsoft.com/office/drawing/2014/main" id="{E0DC430F-B66A-A840-998D-E5DCC461AED8}"/>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240103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7C1506-DB42-4C1F-A0AB-9964622DF2CB}"/>
              </a:ext>
            </a:extLst>
          </p:cNvPr>
          <p:cNvSpPr>
            <a:spLocks noGrp="1"/>
          </p:cNvSpPr>
          <p:nvPr>
            <p:ph type="title"/>
          </p:nvPr>
        </p:nvSpPr>
        <p:spPr/>
        <p:txBody>
          <a:bodyPr/>
          <a:lstStyle/>
          <a:p>
            <a:r>
              <a:rPr lang="en-US" b="1"/>
              <a:t>xxxx.P01: Assessments</a:t>
            </a:r>
            <a:r>
              <a:rPr lang="en-US"/>
              <a:t> to enable XYZ</a:t>
            </a:r>
          </a:p>
        </p:txBody>
      </p:sp>
      <p:graphicFrame>
        <p:nvGraphicFramePr>
          <p:cNvPr id="7" name="Table 7">
            <a:extLst>
              <a:ext uri="{FF2B5EF4-FFF2-40B4-BE49-F238E27FC236}">
                <a16:creationId xmlns:a16="http://schemas.microsoft.com/office/drawing/2014/main" id="{2AFDECBB-3DFB-41B3-A875-B7AE4B355B01}"/>
              </a:ext>
            </a:extLst>
          </p:cNvPr>
          <p:cNvGraphicFramePr>
            <a:graphicFrameLocks noGrp="1"/>
          </p:cNvGraphicFramePr>
          <p:nvPr>
            <p:ph idx="1"/>
            <p:extLst>
              <p:ext uri="{D42A27DB-BD31-4B8C-83A1-F6EECF244321}">
                <p14:modId xmlns:p14="http://schemas.microsoft.com/office/powerpoint/2010/main" val="1279997429"/>
              </p:ext>
            </p:extLst>
          </p:nvPr>
        </p:nvGraphicFramePr>
        <p:xfrm>
          <a:off x="478852" y="1120133"/>
          <a:ext cx="11233148" cy="4598111"/>
        </p:xfrm>
        <a:graphic>
          <a:graphicData uri="http://schemas.openxmlformats.org/drawingml/2006/table">
            <a:tbl>
              <a:tblPr firstRow="1" bandRow="1">
                <a:tableStyleId>{5C22544A-7EE6-4342-B048-85BDC9FD1C3A}</a:tableStyleId>
              </a:tblPr>
              <a:tblGrid>
                <a:gridCol w="2266663">
                  <a:extLst>
                    <a:ext uri="{9D8B030D-6E8A-4147-A177-3AD203B41FA5}">
                      <a16:colId xmlns:a16="http://schemas.microsoft.com/office/drawing/2014/main" val="2611021215"/>
                    </a:ext>
                  </a:extLst>
                </a:gridCol>
                <a:gridCol w="2394201">
                  <a:extLst>
                    <a:ext uri="{9D8B030D-6E8A-4147-A177-3AD203B41FA5}">
                      <a16:colId xmlns:a16="http://schemas.microsoft.com/office/drawing/2014/main" val="1075309433"/>
                    </a:ext>
                  </a:extLst>
                </a:gridCol>
                <a:gridCol w="4484676">
                  <a:extLst>
                    <a:ext uri="{9D8B030D-6E8A-4147-A177-3AD203B41FA5}">
                      <a16:colId xmlns:a16="http://schemas.microsoft.com/office/drawing/2014/main" val="3479222849"/>
                    </a:ext>
                  </a:extLst>
                </a:gridCol>
                <a:gridCol w="2087608">
                  <a:extLst>
                    <a:ext uri="{9D8B030D-6E8A-4147-A177-3AD203B41FA5}">
                      <a16:colId xmlns:a16="http://schemas.microsoft.com/office/drawing/2014/main" val="1464593790"/>
                    </a:ext>
                  </a:extLst>
                </a:gridCol>
              </a:tblGrid>
              <a:tr h="319177">
                <a:tc>
                  <a:txBody>
                    <a:bodyPr/>
                    <a:lstStyle/>
                    <a:p>
                      <a:r>
                        <a:rPr lang="en-US" sz="1400">
                          <a:solidFill>
                            <a:schemeClr val="tx1"/>
                          </a:solidFill>
                        </a:rPr>
                        <a:t>Question</a:t>
                      </a:r>
                    </a:p>
                  </a:txBody>
                  <a:tcPr marL="121920" marR="121920" marT="60960" marB="60960">
                    <a:solidFill>
                      <a:schemeClr val="accent2"/>
                    </a:solidFill>
                  </a:tcPr>
                </a:tc>
                <a:tc>
                  <a:txBody>
                    <a:bodyPr/>
                    <a:lstStyle/>
                    <a:p>
                      <a:r>
                        <a:rPr lang="en-US" sz="1400">
                          <a:solidFill>
                            <a:schemeClr val="tx1"/>
                          </a:solidFill>
                        </a:rPr>
                        <a:t>Data</a:t>
                      </a:r>
                    </a:p>
                  </a:txBody>
                  <a:tcPr marL="121920" marR="121920" marT="60960" marB="60960">
                    <a:solidFill>
                      <a:schemeClr val="accent2"/>
                    </a:solidFill>
                  </a:tcPr>
                </a:tc>
                <a:tc>
                  <a:txBody>
                    <a:bodyPr/>
                    <a:lstStyle/>
                    <a:p>
                      <a:r>
                        <a:rPr lang="en-US" sz="1400">
                          <a:solidFill>
                            <a:schemeClr val="tx1"/>
                          </a:solidFill>
                        </a:rPr>
                        <a:t>[Deliverable, lead]</a:t>
                      </a:r>
                    </a:p>
                  </a:txBody>
                  <a:tcPr marL="121920" marR="121920" marT="60960" marB="60960">
                    <a:solidFill>
                      <a:schemeClr val="accent2"/>
                    </a:solidFill>
                  </a:tcPr>
                </a:tc>
                <a:tc>
                  <a:txBody>
                    <a:bodyPr/>
                    <a:lstStyle/>
                    <a:p>
                      <a:r>
                        <a:rPr lang="en-US" sz="1400">
                          <a:solidFill>
                            <a:schemeClr val="tx1"/>
                          </a:solidFill>
                        </a:rPr>
                        <a:t>Purpose / Impact</a:t>
                      </a:r>
                    </a:p>
                  </a:txBody>
                  <a:tcPr marL="121920" marR="121920" marT="60960" marB="60960">
                    <a:solidFill>
                      <a:schemeClr val="accent2"/>
                    </a:solidFill>
                  </a:tcPr>
                </a:tc>
                <a:extLst>
                  <a:ext uri="{0D108BD9-81ED-4DB2-BD59-A6C34878D82A}">
                    <a16:rowId xmlns:a16="http://schemas.microsoft.com/office/drawing/2014/main" val="2853126929"/>
                  </a:ext>
                </a:extLst>
              </a:tr>
              <a:tr h="1321498">
                <a:tc>
                  <a:txBody>
                    <a:bodyPr/>
                    <a:lstStyle/>
                    <a:p>
                      <a:r>
                        <a:rPr lang="en-US" sz="1000">
                          <a:latin typeface="+mn-lt"/>
                        </a:rPr>
                        <a:t>…</a:t>
                      </a:r>
                    </a:p>
                  </a:txBody>
                  <a:tcPr marL="121920" marR="121920" marT="60960" marB="60960"/>
                </a:tc>
                <a:tc>
                  <a:txBody>
                    <a:bodyPr/>
                    <a:lstStyle/>
                    <a:p>
                      <a:r>
                        <a:rPr lang="en-US" sz="1000">
                          <a:latin typeface="+mn-lt"/>
                        </a:rPr>
                        <a:t>…</a:t>
                      </a:r>
                    </a:p>
                  </a:txBody>
                  <a:tcPr marL="121920" marR="121920" marT="60960" marB="60960"/>
                </a:tc>
                <a:tc>
                  <a:txBody>
                    <a:bodyPr/>
                    <a:lstStyle/>
                    <a:p>
                      <a:pPr marL="0" marR="0" lvl="0" indent="0" algn="l" defTabSz="914400" rtl="0" eaLnBrk="1" latinLnBrk="0" hangingPunct="1">
                        <a:spcBef>
                          <a:spcPts val="0"/>
                        </a:spcBef>
                        <a:spcAft>
                          <a:spcPts val="0"/>
                        </a:spcAft>
                        <a:buFont typeface="Arial" panose="020B0604020202020204" pitchFamily="34" charset="0"/>
                        <a:buNone/>
                        <a:tabLst>
                          <a:tab pos="111760" algn="l"/>
                        </a:tabLst>
                      </a:pPr>
                      <a:r>
                        <a:rPr lang="en-US" sz="1000" kern="1200">
                          <a:solidFill>
                            <a:schemeClr val="dk1"/>
                          </a:solidFill>
                          <a:latin typeface="+mn-lt"/>
                          <a:ea typeface="+mn-ea"/>
                          <a:cs typeface="+mn-cs"/>
                        </a:rPr>
                        <a:t>…</a:t>
                      </a:r>
                    </a:p>
                  </a:txBody>
                  <a:tcPr marL="121920" marR="121920" marT="60960" marB="60960"/>
                </a:tc>
                <a:tc>
                  <a:txBody>
                    <a:bodyPr/>
                    <a:lstStyle/>
                    <a:p>
                      <a:r>
                        <a:rPr lang="en-US" sz="1000">
                          <a:latin typeface="+mn-lt"/>
                        </a:rPr>
                        <a:t>…</a:t>
                      </a:r>
                    </a:p>
                  </a:txBody>
                  <a:tcPr marL="121920" marR="121920" marT="60960" marB="60960"/>
                </a:tc>
                <a:extLst>
                  <a:ext uri="{0D108BD9-81ED-4DB2-BD59-A6C34878D82A}">
                    <a16:rowId xmlns:a16="http://schemas.microsoft.com/office/drawing/2014/main" val="3565809830"/>
                  </a:ext>
                </a:extLst>
              </a:tr>
              <a:tr h="1084306">
                <a:tc>
                  <a:txBody>
                    <a:bodyPr/>
                    <a:lstStyle/>
                    <a:p>
                      <a:pPr marL="0" marR="0" algn="l">
                        <a:spcBef>
                          <a:spcPts val="0"/>
                        </a:spcBef>
                        <a:spcAft>
                          <a:spcPts val="0"/>
                        </a:spcAft>
                      </a:pPr>
                      <a:endParaRPr lang="en-US" sz="1000">
                        <a:effectLst/>
                        <a:latin typeface="+mn-lt"/>
                        <a:ea typeface="Times New Roman" panose="02020603050405020304" pitchFamily="18" charset="0"/>
                      </a:endParaRPr>
                    </a:p>
                  </a:txBody>
                  <a:tcPr marT="0" marB="0"/>
                </a:tc>
                <a:tc>
                  <a:txBody>
                    <a:bodyPr/>
                    <a:lstStyle/>
                    <a:p>
                      <a:pPr marL="34925" marR="0" algn="l">
                        <a:spcBef>
                          <a:spcPts val="0"/>
                        </a:spcBef>
                        <a:spcAft>
                          <a:spcPts val="0"/>
                        </a:spcAft>
                        <a:tabLst>
                          <a:tab pos="111760" algn="l"/>
                        </a:tabLst>
                      </a:pPr>
                      <a:endParaRPr lang="en-US" sz="1000">
                        <a:effectLst/>
                        <a:latin typeface="+mn-lt"/>
                        <a:ea typeface="Times New Roman" panose="02020603050405020304" pitchFamily="18" charset="0"/>
                      </a:endParaRPr>
                    </a:p>
                  </a:txBody>
                  <a:tcPr marT="0" marB="0"/>
                </a:tc>
                <a:tc>
                  <a:txBody>
                    <a:bodyPr/>
                    <a:lstStyle/>
                    <a:p>
                      <a:pPr marL="0" marR="0" lvl="0" indent="0" algn="l">
                        <a:spcBef>
                          <a:spcPts val="0"/>
                        </a:spcBef>
                        <a:spcAft>
                          <a:spcPts val="0"/>
                        </a:spcAft>
                        <a:buFont typeface="Arial" panose="020B0604020202020204" pitchFamily="34" charset="0"/>
                        <a:buNone/>
                        <a:tabLst>
                          <a:tab pos="111760" algn="l"/>
                        </a:tabLst>
                      </a:pPr>
                      <a:endParaRPr lang="en-US" sz="1000">
                        <a:effectLst/>
                        <a:latin typeface="+mn-lt"/>
                        <a:ea typeface="Times New Roman" panose="02020603050405020304" pitchFamily="18" charset="0"/>
                        <a:cs typeface="Times New Roman" panose="02020603050405020304" pitchFamily="18" charset="0"/>
                      </a:endParaRPr>
                    </a:p>
                  </a:txBody>
                  <a:tcPr marT="0" marB="0"/>
                </a:tc>
                <a:tc>
                  <a:txBody>
                    <a:bodyPr/>
                    <a:lstStyle/>
                    <a:p>
                      <a:endParaRPr lang="en-US" sz="1000">
                        <a:latin typeface="+mn-lt"/>
                      </a:endParaRPr>
                    </a:p>
                  </a:txBody>
                  <a:tcPr marL="121920" marR="121920" marT="60960" marB="60960"/>
                </a:tc>
                <a:extLst>
                  <a:ext uri="{0D108BD9-81ED-4DB2-BD59-A6C34878D82A}">
                    <a16:rowId xmlns:a16="http://schemas.microsoft.com/office/drawing/2014/main" val="3194817988"/>
                  </a:ext>
                </a:extLst>
              </a:tr>
              <a:tr h="1857027">
                <a:tc>
                  <a:txBody>
                    <a:bodyPr/>
                    <a:lstStyle/>
                    <a:p>
                      <a:endParaRPr lang="en-US" sz="1000">
                        <a:latin typeface="+mn-lt"/>
                      </a:endParaRPr>
                    </a:p>
                  </a:txBody>
                  <a:tcPr marL="121920" marR="121920" marT="60960" marB="60960"/>
                </a:tc>
                <a:tc>
                  <a:txBody>
                    <a:bodyPr/>
                    <a:lstStyle/>
                    <a:p>
                      <a:endParaRPr lang="en-US" sz="1000">
                        <a:latin typeface="+mn-lt"/>
                      </a:endParaRPr>
                    </a:p>
                  </a:txBody>
                  <a:tcPr marL="121920" marR="121920" marT="60960" marB="60960"/>
                </a:tc>
                <a:tc>
                  <a:txBody>
                    <a:bodyPr/>
                    <a:lstStyle/>
                    <a:p>
                      <a:pPr marL="228600" indent="-228600">
                        <a:buAutoNum type="arabicParenR"/>
                      </a:pPr>
                      <a:endParaRPr lang="en-US" sz="1000"/>
                    </a:p>
                  </a:txBody>
                  <a:tcPr marL="121920" marR="121920" marT="60960" marB="60960"/>
                </a:tc>
                <a:tc>
                  <a:txBody>
                    <a:bodyPr/>
                    <a:lstStyle/>
                    <a:p>
                      <a:endParaRPr lang="en-US" sz="1000">
                        <a:latin typeface="+mn-lt"/>
                      </a:endParaRPr>
                    </a:p>
                  </a:txBody>
                  <a:tcPr marL="121920" marR="121920" marT="60960" marB="60960"/>
                </a:tc>
                <a:extLst>
                  <a:ext uri="{0D108BD9-81ED-4DB2-BD59-A6C34878D82A}">
                    <a16:rowId xmlns:a16="http://schemas.microsoft.com/office/drawing/2014/main" val="374875848"/>
                  </a:ext>
                </a:extLst>
              </a:tr>
            </a:tbl>
          </a:graphicData>
        </a:graphic>
      </p:graphicFrame>
      <p:sp>
        <p:nvSpPr>
          <p:cNvPr id="2" name="Text Placeholder 1">
            <a:extLst>
              <a:ext uri="{FF2B5EF4-FFF2-40B4-BE49-F238E27FC236}">
                <a16:creationId xmlns:a16="http://schemas.microsoft.com/office/drawing/2014/main" id="{625053D8-8552-4265-99F4-46DB51A041F4}"/>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7272CC06-5918-4B47-B168-CEF131CF4049}"/>
              </a:ext>
            </a:extLst>
          </p:cNvPr>
          <p:cNvSpPr>
            <a:spLocks noGrp="1"/>
          </p:cNvSpPr>
          <p:nvPr>
            <p:ph type="ftr" sz="quarter" idx="19"/>
          </p:nvPr>
        </p:nvSpPr>
        <p:spPr/>
        <p:txBody>
          <a:bodyPr/>
          <a:lstStyle/>
          <a:p>
            <a:r>
              <a:rPr lang="en-US" noProof="0"/>
              <a:t>ClinPharm Project Overview [target]    |    ONLY FOR INTERNAL USE</a:t>
            </a:r>
            <a:endParaRPr lang="en-GB" noProof="0"/>
          </a:p>
        </p:txBody>
      </p:sp>
      <p:sp>
        <p:nvSpPr>
          <p:cNvPr id="3" name="Foliennummernplatzhalter 2">
            <a:extLst>
              <a:ext uri="{FF2B5EF4-FFF2-40B4-BE49-F238E27FC236}">
                <a16:creationId xmlns:a16="http://schemas.microsoft.com/office/drawing/2014/main" id="{1DCC21E9-EB6F-11E9-AB27-8693FF1B54EB}"/>
              </a:ext>
            </a:extLst>
          </p:cNvPr>
          <p:cNvSpPr>
            <a:spLocks noGrp="1"/>
          </p:cNvSpPr>
          <p:nvPr>
            <p:ph type="sldNum" sz="quarter" idx="20"/>
          </p:nvPr>
        </p:nvSpPr>
        <p:spPr/>
        <p:txBody>
          <a:bodyPr/>
          <a:lstStyle/>
          <a:p>
            <a:fld id="{DF4E8F9F-5B1F-4F5B-BE49-3245D8C18D9F}" type="slidenum">
              <a:rPr lang="en-US" smtClean="0"/>
              <a:pPr/>
              <a:t>14</a:t>
            </a:fld>
            <a:endParaRPr lang="en-US"/>
          </a:p>
        </p:txBody>
      </p:sp>
    </p:spTree>
    <p:extLst>
      <p:ext uri="{BB962C8B-B14F-4D97-AF65-F5344CB8AC3E}">
        <p14:creationId xmlns:p14="http://schemas.microsoft.com/office/powerpoint/2010/main" val="3771322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a:t>xxxx.P01: </a:t>
            </a:r>
            <a:r>
              <a:rPr lang="en-US"/>
              <a:t>Achievements</a:t>
            </a:r>
          </a:p>
        </p:txBody>
      </p:sp>
      <p:sp>
        <p:nvSpPr>
          <p:cNvPr id="7" name="Text Placeholder 6">
            <a:extLst>
              <a:ext uri="{FF2B5EF4-FFF2-40B4-BE49-F238E27FC236}">
                <a16:creationId xmlns:a16="http://schemas.microsoft.com/office/drawing/2014/main" id="{48F76427-AC33-F6DD-A73E-64CD140A5F80}"/>
              </a:ext>
            </a:extLst>
          </p:cNvPr>
          <p:cNvSpPr>
            <a:spLocks noGrp="1"/>
          </p:cNvSpPr>
          <p:nvPr>
            <p:ph type="body" sz="quarter" idx="13"/>
          </p:nvPr>
        </p:nvSpPr>
        <p:spPr/>
        <p:txBody>
          <a:bodyPr/>
          <a:lstStyle/>
          <a:p>
            <a:endParaRPr lang="en-US"/>
          </a:p>
        </p:txBody>
      </p:sp>
      <p:sp>
        <p:nvSpPr>
          <p:cNvPr id="4" name="Footer Placeholder 3"/>
          <p:cNvSpPr>
            <a:spLocks noGrp="1"/>
          </p:cNvSpPr>
          <p:nvPr>
            <p:ph type="ftr" sz="quarter" idx="19"/>
          </p:nvPr>
        </p:nvSpPr>
        <p:spPr/>
        <p:txBody>
          <a:bodyPr/>
          <a:lstStyle/>
          <a:p>
            <a:r>
              <a:rPr lang="en-US" noProof="0"/>
              <a:t>ClinPharm Project Overview [target]    |    ONLY FOR INTERNAL USE</a:t>
            </a:r>
            <a:endParaRPr lang="en-GB" noProof="0"/>
          </a:p>
        </p:txBody>
      </p:sp>
      <p:graphicFrame>
        <p:nvGraphicFramePr>
          <p:cNvPr id="3" name="Tabelle 2">
            <a:extLst>
              <a:ext uri="{FF2B5EF4-FFF2-40B4-BE49-F238E27FC236}">
                <a16:creationId xmlns:a16="http://schemas.microsoft.com/office/drawing/2014/main" id="{9DEFF743-FED2-4EA0-A1F9-35062D764019}"/>
              </a:ext>
            </a:extLst>
          </p:cNvPr>
          <p:cNvGraphicFramePr>
            <a:graphicFrameLocks noGrp="1"/>
          </p:cNvGraphicFramePr>
          <p:nvPr>
            <p:extLst>
              <p:ext uri="{D42A27DB-BD31-4B8C-83A1-F6EECF244321}">
                <p14:modId xmlns:p14="http://schemas.microsoft.com/office/powerpoint/2010/main" val="1014800533"/>
              </p:ext>
            </p:extLst>
          </p:nvPr>
        </p:nvGraphicFramePr>
        <p:xfrm>
          <a:off x="839416" y="1309363"/>
          <a:ext cx="10729192" cy="2336800"/>
        </p:xfrm>
        <a:graphic>
          <a:graphicData uri="http://schemas.openxmlformats.org/drawingml/2006/table">
            <a:tbl>
              <a:tblPr firstRow="1" bandRow="1">
                <a:tableStyleId>{9D7B26C5-4107-4FEC-AEDC-1716B250A1EF}</a:tableStyleId>
              </a:tblPr>
              <a:tblGrid>
                <a:gridCol w="4896544">
                  <a:extLst>
                    <a:ext uri="{9D8B030D-6E8A-4147-A177-3AD203B41FA5}">
                      <a16:colId xmlns:a16="http://schemas.microsoft.com/office/drawing/2014/main" val="357180561"/>
                    </a:ext>
                  </a:extLst>
                </a:gridCol>
                <a:gridCol w="5832648">
                  <a:extLst>
                    <a:ext uri="{9D8B030D-6E8A-4147-A177-3AD203B41FA5}">
                      <a16:colId xmlns:a16="http://schemas.microsoft.com/office/drawing/2014/main" val="4138382382"/>
                    </a:ext>
                  </a:extLst>
                </a:gridCol>
              </a:tblGrid>
              <a:tr h="370840">
                <a:tc>
                  <a:txBody>
                    <a:bodyPr/>
                    <a:lstStyle/>
                    <a:p>
                      <a:r>
                        <a:rPr lang="de-DE"/>
                        <a:t>Achievement</a:t>
                      </a:r>
                    </a:p>
                  </a:txBody>
                  <a:tcPr/>
                </a:tc>
                <a:tc>
                  <a:txBody>
                    <a:bodyPr/>
                    <a:lstStyle/>
                    <a:p>
                      <a:r>
                        <a:rPr lang="de-DE"/>
                        <a:t>Impact</a:t>
                      </a:r>
                    </a:p>
                  </a:txBody>
                  <a:tcPr/>
                </a:tc>
                <a:extLst>
                  <a:ext uri="{0D108BD9-81ED-4DB2-BD59-A6C34878D82A}">
                    <a16:rowId xmlns:a16="http://schemas.microsoft.com/office/drawing/2014/main" val="2935536644"/>
                  </a:ext>
                </a:extLst>
              </a:tr>
              <a:tr h="370840">
                <a:tc>
                  <a:txBody>
                    <a:bodyPr/>
                    <a:lstStyle/>
                    <a:p>
                      <a:r>
                        <a:rPr lang="en-US" sz="1400"/>
                        <a:t>[study]: high-level analysis description</a:t>
                      </a:r>
                    </a:p>
                    <a:p>
                      <a:pPr lvl="1"/>
                      <a:r>
                        <a:rPr lang="en-US" sz="1200"/>
                        <a:t>Analysis plan: Q3 2024</a:t>
                      </a:r>
                    </a:p>
                    <a:p>
                      <a:pPr lvl="1"/>
                      <a:r>
                        <a:rPr lang="en-US" sz="1200"/>
                        <a:t>Final results: Q4 2024</a:t>
                      </a:r>
                    </a:p>
                    <a:p>
                      <a:pPr lvl="1"/>
                      <a:r>
                        <a:rPr lang="en-US" sz="1200"/>
                        <a:t>Report archived: Q1 2024</a:t>
                      </a:r>
                      <a:endParaRPr lang="de-DE"/>
                    </a:p>
                  </a:txBody>
                  <a:tcPr/>
                </a:tc>
                <a:tc>
                  <a:txBody>
                    <a:bodyPr/>
                    <a:lstStyle/>
                    <a:p>
                      <a:r>
                        <a:rPr lang="de-DE" sz="1400" kern="1200" err="1">
                          <a:solidFill>
                            <a:schemeClr val="tx1"/>
                          </a:solidFill>
                          <a:latin typeface="+mn-lt"/>
                          <a:ea typeface="+mn-ea"/>
                          <a:cs typeface="+mn-cs"/>
                        </a:rPr>
                        <a:t>Results</a:t>
                      </a:r>
                      <a:r>
                        <a:rPr lang="de-DE" sz="1400" kern="1200">
                          <a:solidFill>
                            <a:schemeClr val="tx1"/>
                          </a:solidFill>
                          <a:latin typeface="+mn-lt"/>
                          <a:ea typeface="+mn-ea"/>
                          <a:cs typeface="+mn-cs"/>
                        </a:rPr>
                        <a:t> </a:t>
                      </a:r>
                      <a:r>
                        <a:rPr lang="de-DE" sz="1400" kern="1200" err="1">
                          <a:solidFill>
                            <a:schemeClr val="tx1"/>
                          </a:solidFill>
                          <a:latin typeface="+mn-lt"/>
                          <a:ea typeface="+mn-ea"/>
                          <a:cs typeface="+mn-cs"/>
                        </a:rPr>
                        <a:t>informed</a:t>
                      </a:r>
                      <a:r>
                        <a:rPr lang="de-DE" sz="1400" kern="1200">
                          <a:solidFill>
                            <a:schemeClr val="tx1"/>
                          </a:solidFill>
                          <a:latin typeface="+mn-lt"/>
                          <a:ea typeface="+mn-ea"/>
                          <a:cs typeface="+mn-cs"/>
                        </a:rPr>
                        <a:t> Phase II dose </a:t>
                      </a:r>
                      <a:r>
                        <a:rPr lang="de-DE" sz="1400" kern="1200" err="1">
                          <a:solidFill>
                            <a:schemeClr val="tx1"/>
                          </a:solidFill>
                          <a:latin typeface="+mn-lt"/>
                          <a:ea typeface="+mn-ea"/>
                          <a:cs typeface="+mn-cs"/>
                        </a:rPr>
                        <a:t>decision</a:t>
                      </a:r>
                      <a:endParaRPr lang="de-DE" sz="1400" kern="1200">
                        <a:solidFill>
                          <a:schemeClr val="tx1"/>
                        </a:solidFill>
                        <a:latin typeface="+mn-lt"/>
                        <a:ea typeface="+mn-ea"/>
                        <a:cs typeface="+mn-cs"/>
                      </a:endParaRPr>
                    </a:p>
                  </a:txBody>
                  <a:tcPr/>
                </a:tc>
                <a:extLst>
                  <a:ext uri="{0D108BD9-81ED-4DB2-BD59-A6C34878D82A}">
                    <a16:rowId xmlns:a16="http://schemas.microsoft.com/office/drawing/2014/main" val="3619891165"/>
                  </a:ext>
                </a:extLst>
              </a:tr>
              <a:tr h="370840">
                <a:tc>
                  <a:txBody>
                    <a:bodyPr/>
                    <a:lstStyle/>
                    <a:p>
                      <a:r>
                        <a:rPr lang="en-US" sz="1400"/>
                        <a:t>[study]: Online PK/PD analysis (VISTA)</a:t>
                      </a:r>
                    </a:p>
                  </a:txBody>
                  <a:tcPr/>
                </a:tc>
                <a:tc>
                  <a:txBody>
                    <a:bodyPr/>
                    <a:lstStyle/>
                    <a:p>
                      <a:r>
                        <a:rPr lang="de-DE" sz="1400" kern="1200" err="1">
                          <a:solidFill>
                            <a:schemeClr val="tx1"/>
                          </a:solidFill>
                          <a:latin typeface="+mn-lt"/>
                          <a:ea typeface="+mn-ea"/>
                          <a:cs typeface="+mn-cs"/>
                        </a:rPr>
                        <a:t>Earlier</a:t>
                      </a:r>
                      <a:r>
                        <a:rPr lang="de-DE" sz="1400" kern="1200">
                          <a:solidFill>
                            <a:schemeClr val="tx1"/>
                          </a:solidFill>
                          <a:latin typeface="+mn-lt"/>
                          <a:ea typeface="+mn-ea"/>
                          <a:cs typeface="+mn-cs"/>
                        </a:rPr>
                        <a:t> </a:t>
                      </a:r>
                      <a:r>
                        <a:rPr lang="de-DE" sz="1400" kern="1200" err="1">
                          <a:solidFill>
                            <a:schemeClr val="tx1"/>
                          </a:solidFill>
                          <a:latin typeface="+mn-lt"/>
                          <a:ea typeface="+mn-ea"/>
                          <a:cs typeface="+mn-cs"/>
                        </a:rPr>
                        <a:t>decision</a:t>
                      </a:r>
                      <a:r>
                        <a:rPr lang="de-DE" sz="1400" kern="1200">
                          <a:solidFill>
                            <a:schemeClr val="tx1"/>
                          </a:solidFill>
                          <a:latin typeface="+mn-lt"/>
                          <a:ea typeface="+mn-ea"/>
                          <a:cs typeface="+mn-cs"/>
                        </a:rPr>
                        <a:t> </a:t>
                      </a:r>
                      <a:r>
                        <a:rPr lang="de-DE" sz="1400" kern="1200" err="1">
                          <a:solidFill>
                            <a:schemeClr val="tx1"/>
                          </a:solidFill>
                          <a:latin typeface="+mn-lt"/>
                          <a:ea typeface="+mn-ea"/>
                          <a:cs typeface="+mn-cs"/>
                        </a:rPr>
                        <a:t>taken</a:t>
                      </a:r>
                      <a:r>
                        <a:rPr lang="de-DE" sz="1400" kern="1200">
                          <a:solidFill>
                            <a:schemeClr val="tx1"/>
                          </a:solidFill>
                          <a:latin typeface="+mn-lt"/>
                          <a:ea typeface="+mn-ea"/>
                          <a:cs typeface="+mn-cs"/>
                        </a:rPr>
                        <a:t> </a:t>
                      </a:r>
                      <a:r>
                        <a:rPr lang="de-DE" sz="1400" kern="1200" err="1">
                          <a:solidFill>
                            <a:schemeClr val="tx1"/>
                          </a:solidFill>
                          <a:latin typeface="+mn-lt"/>
                          <a:ea typeface="+mn-ea"/>
                          <a:cs typeface="+mn-cs"/>
                        </a:rPr>
                        <a:t>for</a:t>
                      </a:r>
                      <a:r>
                        <a:rPr lang="de-DE" sz="1400" kern="1200">
                          <a:solidFill>
                            <a:schemeClr val="tx1"/>
                          </a:solidFill>
                          <a:latin typeface="+mn-lt"/>
                          <a:ea typeface="+mn-ea"/>
                          <a:cs typeface="+mn-cs"/>
                        </a:rPr>
                        <a:t> XY</a:t>
                      </a:r>
                    </a:p>
                  </a:txBody>
                  <a:tcPr/>
                </a:tc>
                <a:extLst>
                  <a:ext uri="{0D108BD9-81ED-4DB2-BD59-A6C34878D82A}">
                    <a16:rowId xmlns:a16="http://schemas.microsoft.com/office/drawing/2014/main" val="612500824"/>
                  </a:ext>
                </a:extLst>
              </a:tr>
              <a:tr h="370840">
                <a:tc>
                  <a:txBody>
                    <a:bodyPr/>
                    <a:lstStyle/>
                    <a:p>
                      <a:endParaRPr lang="de-DE"/>
                    </a:p>
                  </a:txBody>
                  <a:tcPr/>
                </a:tc>
                <a:tc>
                  <a:txBody>
                    <a:bodyPr/>
                    <a:lstStyle/>
                    <a:p>
                      <a:endParaRPr lang="de-DE"/>
                    </a:p>
                  </a:txBody>
                  <a:tcPr/>
                </a:tc>
                <a:extLst>
                  <a:ext uri="{0D108BD9-81ED-4DB2-BD59-A6C34878D82A}">
                    <a16:rowId xmlns:a16="http://schemas.microsoft.com/office/drawing/2014/main" val="4120912220"/>
                  </a:ext>
                </a:extLst>
              </a:tr>
              <a:tr h="370840">
                <a:tc>
                  <a:txBody>
                    <a:bodyPr/>
                    <a:lstStyle/>
                    <a:p>
                      <a:endParaRPr lang="de-DE"/>
                    </a:p>
                  </a:txBody>
                  <a:tcPr/>
                </a:tc>
                <a:tc>
                  <a:txBody>
                    <a:bodyPr/>
                    <a:lstStyle/>
                    <a:p>
                      <a:endParaRPr lang="de-DE"/>
                    </a:p>
                  </a:txBody>
                  <a:tcPr/>
                </a:tc>
                <a:extLst>
                  <a:ext uri="{0D108BD9-81ED-4DB2-BD59-A6C34878D82A}">
                    <a16:rowId xmlns:a16="http://schemas.microsoft.com/office/drawing/2014/main" val="1707659337"/>
                  </a:ext>
                </a:extLst>
              </a:tr>
            </a:tbl>
          </a:graphicData>
        </a:graphic>
      </p:graphicFrame>
      <p:sp>
        <p:nvSpPr>
          <p:cNvPr id="2" name="Foliennummernplatzhalter 1">
            <a:extLst>
              <a:ext uri="{FF2B5EF4-FFF2-40B4-BE49-F238E27FC236}">
                <a16:creationId xmlns:a16="http://schemas.microsoft.com/office/drawing/2014/main" id="{BA0624E1-C88D-85C8-A178-4D5404A7FC90}"/>
              </a:ext>
            </a:extLst>
          </p:cNvPr>
          <p:cNvSpPr>
            <a:spLocks noGrp="1"/>
          </p:cNvSpPr>
          <p:nvPr>
            <p:ph type="sldNum" sz="quarter" idx="20"/>
          </p:nvPr>
        </p:nvSpPr>
        <p:spPr/>
        <p:txBody>
          <a:bodyPr/>
          <a:lstStyle/>
          <a:p>
            <a:fld id="{DF4E8F9F-5B1F-4F5B-BE49-3245D8C18D9F}" type="slidenum">
              <a:rPr lang="en-US" smtClean="0"/>
              <a:pPr/>
              <a:t>15</a:t>
            </a:fld>
            <a:endParaRPr lang="en-US"/>
          </a:p>
        </p:txBody>
      </p:sp>
      <p:sp>
        <p:nvSpPr>
          <p:cNvPr id="5" name="Speech Bubble: Rectangle 11">
            <a:extLst>
              <a:ext uri="{FF2B5EF4-FFF2-40B4-BE49-F238E27FC236}">
                <a16:creationId xmlns:a16="http://schemas.microsoft.com/office/drawing/2014/main" id="{2781EC59-3B38-F4E1-EAD2-A1F77616A4C2}"/>
              </a:ext>
            </a:extLst>
          </p:cNvPr>
          <p:cNvSpPr/>
          <p:nvPr/>
        </p:nvSpPr>
        <p:spPr>
          <a:xfrm>
            <a:off x="9105464" y="179428"/>
            <a:ext cx="2582636" cy="338139"/>
          </a:xfrm>
          <a:prstGeom prst="wedgeRectCallout">
            <a:avLst>
              <a:gd name="adj1" fmla="val -67664"/>
              <a:gd name="adj2" fmla="val 245138"/>
            </a:avLst>
          </a:prstGeom>
          <a:solidFill>
            <a:srgbClr val="FFC000"/>
          </a:solidFill>
          <a:ln/>
        </p:spPr>
        <p:style>
          <a:lnRef idx="1">
            <a:schemeClr val="accent4"/>
          </a:lnRef>
          <a:fillRef idx="2">
            <a:schemeClr val="accent4"/>
          </a:fillRef>
          <a:effectRef idx="1">
            <a:schemeClr val="accent4"/>
          </a:effectRef>
          <a:fontRef idx="minor">
            <a:schemeClr val="dk1"/>
          </a:fontRef>
        </p:style>
        <p:txBody>
          <a:bodyPr lIns="96000" tIns="96000" rIns="96000" bIns="96000" rtlCol="0" anchor="ctr"/>
          <a:lstStyle/>
          <a:p>
            <a:pPr algn="ctr"/>
            <a:r>
              <a:rPr lang="en-US" sz="1067">
                <a:solidFill>
                  <a:schemeClr val="tx1"/>
                </a:solidFill>
              </a:rPr>
              <a:t>Details provided for inspiration.</a:t>
            </a:r>
          </a:p>
        </p:txBody>
      </p:sp>
    </p:spTree>
    <p:extLst>
      <p:ext uri="{BB962C8B-B14F-4D97-AF65-F5344CB8AC3E}">
        <p14:creationId xmlns:p14="http://schemas.microsoft.com/office/powerpoint/2010/main" val="416844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D3195-C2F9-69B0-401B-48BA03D850D1}"/>
              </a:ext>
            </a:extLst>
          </p:cNvPr>
          <p:cNvSpPr>
            <a:spLocks noGrp="1"/>
          </p:cNvSpPr>
          <p:nvPr>
            <p:ph type="ctrTitle"/>
          </p:nvPr>
        </p:nvSpPr>
        <p:spPr/>
        <p:txBody>
          <a:bodyPr/>
          <a:lstStyle/>
          <a:p>
            <a:r>
              <a:rPr lang="en-US"/>
              <a:t>Backup</a:t>
            </a:r>
          </a:p>
        </p:txBody>
      </p:sp>
      <p:sp>
        <p:nvSpPr>
          <p:cNvPr id="3" name="Subtitle 2">
            <a:extLst>
              <a:ext uri="{FF2B5EF4-FFF2-40B4-BE49-F238E27FC236}">
                <a16:creationId xmlns:a16="http://schemas.microsoft.com/office/drawing/2014/main" id="{F895D5DF-969A-4A33-A93A-6F709A4453B2}"/>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16F7283D-273A-698E-A15E-1DF8CC23A7EC}"/>
              </a:ext>
            </a:extLst>
          </p:cNvPr>
          <p:cNvSpPr>
            <a:spLocks noGrp="1"/>
          </p:cNvSpPr>
          <p:nvPr>
            <p:ph type="ftr" sz="quarter" idx="19"/>
          </p:nvPr>
        </p:nvSpPr>
        <p:spPr/>
        <p:txBody>
          <a:bodyPr/>
          <a:lstStyle/>
          <a:p>
            <a:r>
              <a:rPr lang="en-US"/>
              <a:t>ClinPharm Project Overview [target]    |    ONLY FOR INTERNAL USE</a:t>
            </a:r>
          </a:p>
        </p:txBody>
      </p:sp>
    </p:spTree>
    <p:extLst>
      <p:ext uri="{BB962C8B-B14F-4D97-AF65-F5344CB8AC3E}">
        <p14:creationId xmlns:p14="http://schemas.microsoft.com/office/powerpoint/2010/main" val="403366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073459-E315-93FF-2E03-35450AC7D4FD}"/>
              </a:ext>
            </a:extLst>
          </p:cNvPr>
          <p:cNvSpPr>
            <a:spLocks noGrp="1"/>
          </p:cNvSpPr>
          <p:nvPr>
            <p:ph type="title"/>
          </p:nvPr>
        </p:nvSpPr>
        <p:spPr/>
        <p:txBody>
          <a:bodyPr/>
          <a:lstStyle/>
          <a:p>
            <a:r>
              <a:rPr lang="de-DE"/>
              <a:t>Supportive Information/</a:t>
            </a:r>
            <a:r>
              <a:rPr lang="de-DE" err="1"/>
              <a:t>Guidances</a:t>
            </a:r>
            <a:endParaRPr lang="de-DE"/>
          </a:p>
        </p:txBody>
      </p:sp>
      <p:sp>
        <p:nvSpPr>
          <p:cNvPr id="5" name="Inhaltsplatzhalter 4">
            <a:extLst>
              <a:ext uri="{FF2B5EF4-FFF2-40B4-BE49-F238E27FC236}">
                <a16:creationId xmlns:a16="http://schemas.microsoft.com/office/drawing/2014/main" id="{B72D3291-AC7F-3176-BD77-E56733A5A6AD}"/>
              </a:ext>
            </a:extLst>
          </p:cNvPr>
          <p:cNvSpPr>
            <a:spLocks noGrp="1"/>
          </p:cNvSpPr>
          <p:nvPr>
            <p:ph idx="1"/>
          </p:nvPr>
        </p:nvSpPr>
        <p:spPr>
          <a:xfrm>
            <a:off x="478849" y="1233000"/>
            <a:ext cx="11233151" cy="4392000"/>
          </a:xfrm>
        </p:spPr>
        <p:txBody>
          <a:bodyPr/>
          <a:lstStyle/>
          <a:p>
            <a:pPr marL="0" indent="0">
              <a:buNone/>
            </a:pPr>
            <a:r>
              <a:rPr lang="de-DE"/>
              <a:t>Translational Plans (</a:t>
            </a:r>
            <a:r>
              <a:rPr lang="de-DE" err="1"/>
              <a:t>xls</a:t>
            </a:r>
            <a:r>
              <a:rPr lang="de-DE"/>
              <a:t>-sheets)</a:t>
            </a:r>
          </a:p>
          <a:p>
            <a:pPr lvl="1"/>
            <a:r>
              <a:rPr kumimoji="0" lang="de-DE" altLang="de-DE" sz="1600" b="0" i="0" u="none" strike="noStrike" cap="none" normalizeH="0" baseline="0">
                <a:ln>
                  <a:noFill/>
                </a:ln>
                <a:effectLst/>
                <a:latin typeface="Arial" panose="020B0604020202020204" pitchFamily="34" charset="0"/>
                <a:hlinkClick r:id="rId2">
                  <a:extLst>
                    <a:ext uri="{A12FA001-AC4F-418D-AE19-62706E023703}">
                      <ahyp:hlinkClr xmlns:ahyp="http://schemas.microsoft.com/office/drawing/2018/hyperlinkcolor" val="tx"/>
                    </a:ext>
                  </a:extLst>
                </a:hlinkClick>
              </a:rPr>
              <a:t>All TPs: </a:t>
            </a:r>
            <a:r>
              <a:rPr kumimoji="0" lang="de-DE" altLang="de-DE" sz="1600" b="0" i="0" u="none" strike="noStrike" cap="none" normalizeH="0" baseline="0">
                <a:ln>
                  <a:noFill/>
                </a:ln>
                <a:solidFill>
                  <a:srgbClr val="B7B6B2"/>
                </a:solidFill>
                <a:effectLst/>
                <a:latin typeface="Arial" panose="020B0604020202020204" pitchFamily="34" charset="0"/>
                <a:hlinkClick r:id="rId2">
                  <a:extLst>
                    <a:ext uri="{A12FA001-AC4F-418D-AE19-62706E023703}">
                      <ahyp:hlinkClr xmlns:ahyp="http://schemas.microsoft.com/office/drawing/2018/hyperlinkcolor" val="tx"/>
                    </a:ext>
                  </a:extLst>
                </a:hlinkClick>
              </a:rPr>
              <a:t>	</a:t>
            </a:r>
            <a:r>
              <a:rPr kumimoji="0" lang="de-DE" altLang="de-DE" sz="1600" b="0" i="0" u="none" strike="noStrike" cap="none" normalizeH="0" baseline="0">
                <a:ln>
                  <a:noFill/>
                </a:ln>
                <a:solidFill>
                  <a:srgbClr val="076D7E"/>
                </a:solidFill>
                <a:effectLst/>
                <a:latin typeface="Arial" panose="020B0604020202020204" pitchFamily="34" charset="0"/>
                <a:hlinkClick r:id="rId2">
                  <a:extLst>
                    <a:ext uri="{A12FA001-AC4F-418D-AE19-62706E023703}">
                      <ahyp:hlinkClr xmlns:ahyp="http://schemas.microsoft.com/office/drawing/2018/hyperlinkcolor" val="tx"/>
                    </a:ext>
                  </a:extLst>
                </a:hlinkClick>
              </a:rPr>
              <a:t>04_Translational Plan</a:t>
            </a:r>
            <a:endParaRPr kumimoji="0" lang="de-DE" altLang="de-DE" sz="1600" b="0" i="0" u="none" strike="noStrike" cap="none" normalizeH="0" baseline="0">
              <a:ln>
                <a:noFill/>
              </a:ln>
              <a:solidFill>
                <a:srgbClr val="076D7E"/>
              </a:solidFill>
              <a:effectLst/>
              <a:latin typeface="Arial" panose="020B0604020202020204" pitchFamily="34" charset="0"/>
            </a:endParaRPr>
          </a:p>
          <a:p>
            <a:pPr lvl="1"/>
            <a:r>
              <a:rPr lang="de-DE">
                <a:hlinkClick r:id="rId3">
                  <a:extLst>
                    <a:ext uri="{A12FA001-AC4F-418D-AE19-62706E023703}">
                      <ahyp:hlinkClr xmlns:ahyp="http://schemas.microsoft.com/office/drawing/2018/hyperlinkcolor" val="tx"/>
                    </a:ext>
                  </a:extLst>
                </a:hlinkClick>
              </a:rPr>
              <a:t>FAQ: 	</a:t>
            </a:r>
            <a:r>
              <a:rPr lang="de-DE">
                <a:solidFill>
                  <a:srgbClr val="B7B6B2"/>
                </a:solidFill>
                <a:hlinkClick r:id="rId3">
                  <a:extLst>
                    <a:ext uri="{A12FA001-AC4F-418D-AE19-62706E023703}">
                      <ahyp:hlinkClr xmlns:ahyp="http://schemas.microsoft.com/office/drawing/2018/hyperlinkcolor" val="tx"/>
                    </a:ext>
                  </a:extLst>
                </a:hlinkClick>
              </a:rPr>
              <a:t>	</a:t>
            </a:r>
            <a:r>
              <a:rPr lang="de-DE">
                <a:solidFill>
                  <a:srgbClr val="076D7E"/>
                </a:solidFill>
                <a:hlinkClick r:id="rId3">
                  <a:extLst>
                    <a:ext uri="{A12FA001-AC4F-418D-AE19-62706E023703}">
                      <ahyp:hlinkClr xmlns:ahyp="http://schemas.microsoft.com/office/drawing/2018/hyperlinkcolor" val="tx"/>
                    </a:ext>
                  </a:extLst>
                </a:hlinkClick>
              </a:rPr>
              <a:t>TMCP SharePoint-Hub - </a:t>
            </a:r>
            <a:r>
              <a:rPr lang="de-DE" err="1">
                <a:solidFill>
                  <a:srgbClr val="076D7E"/>
                </a:solidFill>
                <a:hlinkClick r:id="rId3">
                  <a:extLst>
                    <a:ext uri="{A12FA001-AC4F-418D-AE19-62706E023703}">
                      <ahyp:hlinkClr xmlns:ahyp="http://schemas.microsoft.com/office/drawing/2018/hyperlinkcolor" val="tx"/>
                    </a:ext>
                  </a:extLst>
                </a:hlinkClick>
              </a:rPr>
              <a:t>Translational_Plan</a:t>
            </a:r>
            <a:r>
              <a:rPr lang="de-DE">
                <a:solidFill>
                  <a:srgbClr val="076D7E"/>
                </a:solidFill>
                <a:hlinkClick r:id="rId3">
                  <a:extLst>
                    <a:ext uri="{A12FA001-AC4F-418D-AE19-62706E023703}">
                      <ahyp:hlinkClr xmlns:ahyp="http://schemas.microsoft.com/office/drawing/2018/hyperlinkcolor" val="tx"/>
                    </a:ext>
                  </a:extLst>
                </a:hlinkClick>
              </a:rPr>
              <a:t> - All </a:t>
            </a:r>
            <a:r>
              <a:rPr lang="de-DE" err="1">
                <a:solidFill>
                  <a:srgbClr val="076D7E"/>
                </a:solidFill>
                <a:hlinkClick r:id="rId3">
                  <a:extLst>
                    <a:ext uri="{A12FA001-AC4F-418D-AE19-62706E023703}">
                      <ahyp:hlinkClr xmlns:ahyp="http://schemas.microsoft.com/office/drawing/2018/hyperlinkcolor" val="tx"/>
                    </a:ext>
                  </a:extLst>
                </a:hlinkClick>
              </a:rPr>
              <a:t>Documents</a:t>
            </a:r>
            <a:endParaRPr lang="de-DE">
              <a:solidFill>
                <a:srgbClr val="076D7E"/>
              </a:solidFill>
            </a:endParaRPr>
          </a:p>
          <a:p>
            <a:pPr marL="0" indent="0">
              <a:buNone/>
            </a:pPr>
            <a:r>
              <a:rPr lang="de-DE" err="1"/>
              <a:t>PMxL</a:t>
            </a:r>
            <a:r>
              <a:rPr lang="de-DE"/>
              <a:t>:</a:t>
            </a:r>
          </a:p>
          <a:p>
            <a:pPr lvl="1"/>
            <a:r>
              <a:rPr lang="de-DE">
                <a:hlinkClick r:id="rId4" tooltip="https://boehringer.sharepoint.com/:p:/r/sites/mybi_medicine_cdo/_layouts/15/doc.aspx?sourcedoc=%7b82b9ed83-e6e5-4b6a-a421-4e8c885beb52%7d&amp;file=2024_02_12_pmxdeliverablesagileworkingmodel_v2%201_cb.pptx&amp;action=edit&amp;mobileredirect=true&amp;isspofile=1&amp;xsdata=mdv8mdj8fduzytvhzta2ntlmmtq0mthjmmq2mdhkzdqxnda4ndiyfguxzjhhzjg2zwu5ntq3mthizdbkmzc1yjm3mzy2yzgzfdb8mhw2mzg3mzg0njc1mdcwnje0njj8vw5rbm93bnxwr1zoylhovfpxtjfjbwwwzvzobgnuwnbzmly4zxlkv0lqb2lnqzr3tgpbd01eqwlmq0prswpvavyybhvneklptenkqlrpstzjazkwyudweulpd2lwmvfpt2pfegzrpt18mxxmmk5vwvhsekx6rtvpbtfswlhscgjtzgzxv3batwsxvvjuslpivlywv2tkvk1wbdvnrejoywxrefrgzetivtu2vvhst2frmhluvvjxyvuxvwezce9wmuy1uuhsb2ntvmhaqzuytwk5dfpytnpzv2rsy3k4ee56ttrnale1t1rrnu56qxh8zdczztk4nzrkmdc3ndlmnmmyzdywogrknde0mdg0mjj8ywnjzwfmytnjztq3ndq2yzhimzkyztnizmizytrlnme%3d&amp;sdata=skvxzjmxc1fzcjdyn2lnvhuzvkhmvtk1tnbuvmrhvdvpmdbyugnbewlsdz0%3d&amp;ovuser=e1f8af86-ee95-4718-bd0d-375b37366c83%2cstephan.glund%40boehringer-ingelheim.com"/>
              </a:rPr>
              <a:t>2024_02_12_PMxDeliverablesAgileWorkingModel_v2 1_CB.pptx</a:t>
            </a:r>
            <a:endParaRPr lang="de-DE"/>
          </a:p>
          <a:p>
            <a:pPr marL="0" indent="0">
              <a:buNone/>
            </a:pPr>
            <a:r>
              <a:rPr lang="de-DE" err="1"/>
              <a:t>CPhL</a:t>
            </a:r>
            <a:r>
              <a:rPr lang="de-DE"/>
              <a:t>:</a:t>
            </a:r>
          </a:p>
          <a:p>
            <a:pPr lvl="1"/>
            <a:r>
              <a:rPr kumimoji="0" lang="de-DE" altLang="de-DE" sz="1600" b="0" i="0" u="none" strike="noStrike" cap="none" normalizeH="0" baseline="0">
                <a:ln>
                  <a:noFill/>
                </a:ln>
                <a:solidFill>
                  <a:srgbClr val="076D7E"/>
                </a:solidFill>
                <a:effectLst/>
                <a:latin typeface="Arial" panose="020B0604020202020204" pitchFamily="34" charset="0"/>
                <a:hlinkClick r:id="rId5">
                  <a:extLst>
                    <a:ext uri="{A12FA001-AC4F-418D-AE19-62706E023703}">
                      <ahyp:hlinkClr xmlns:ahyp="http://schemas.microsoft.com/office/drawing/2018/hyperlinkcolor" val="tx"/>
                    </a:ext>
                  </a:extLst>
                </a:hlinkClick>
              </a:rPr>
              <a:t>2023_05_Clinical_Pharmacology_Strategy_Presentation_Final_To_Be_Used.pptx</a:t>
            </a:r>
            <a:endParaRPr kumimoji="0" lang="de-DE" altLang="de-DE" sz="1600" b="0" i="0" u="none" strike="noStrike" cap="none" normalizeH="0" baseline="0">
              <a:ln>
                <a:noFill/>
              </a:ln>
              <a:solidFill>
                <a:srgbClr val="076D7E"/>
              </a:solidFill>
              <a:effectLst/>
              <a:latin typeface="Arial" panose="020B0604020202020204" pitchFamily="34" charset="0"/>
            </a:endParaRPr>
          </a:p>
          <a:p>
            <a:pPr lvl="1"/>
            <a:r>
              <a:rPr kumimoji="0" lang="de-DE" altLang="de-DE" sz="1600" b="0" i="0" u="none" strike="noStrike" cap="none" normalizeH="0" baseline="0">
                <a:ln>
                  <a:noFill/>
                </a:ln>
                <a:solidFill>
                  <a:srgbClr val="076D7E"/>
                </a:solidFill>
                <a:effectLst/>
                <a:latin typeface="Arial" panose="020B0604020202020204" pitchFamily="34" charset="0"/>
                <a:hlinkClick r:id="rId6">
                  <a:extLst>
                    <a:ext uri="{A12FA001-AC4F-418D-AE19-62706E023703}">
                      <ahyp:hlinkClr xmlns:ahyp="http://schemas.microsoft.com/office/drawing/2018/hyperlinkcolor" val="tx"/>
                    </a:ext>
                  </a:extLst>
                </a:hlinkClick>
              </a:rPr>
              <a:t>2024_05_ClinPharm_Deliverables_Proposal_Final.pptx</a:t>
            </a:r>
            <a:endParaRPr lang="de-DE" altLang="de-DE">
              <a:solidFill>
                <a:srgbClr val="076D7E"/>
              </a:solidFill>
              <a:latin typeface="Arial" panose="020B0604020202020204" pitchFamily="34" charset="0"/>
            </a:endParaRPr>
          </a:p>
          <a:p>
            <a:pPr marL="0" indent="0">
              <a:buNone/>
            </a:pPr>
            <a:r>
              <a:rPr lang="de-DE">
                <a:latin typeface="Arial" panose="020B0604020202020204" pitchFamily="34" charset="0"/>
              </a:rPr>
              <a:t>General:</a:t>
            </a:r>
          </a:p>
          <a:p>
            <a:pPr lvl="1"/>
            <a:r>
              <a:rPr lang="de-DE" err="1">
                <a:latin typeface="Arial" panose="020B0604020202020204" pitchFamily="34" charset="0"/>
              </a:rPr>
              <a:t>Overview</a:t>
            </a:r>
            <a:r>
              <a:rPr lang="de-DE">
                <a:latin typeface="Arial" panose="020B0604020202020204" pitchFamily="34" charset="0"/>
              </a:rPr>
              <a:t> </a:t>
            </a:r>
            <a:r>
              <a:rPr lang="de-DE" err="1">
                <a:latin typeface="Arial" panose="020B0604020202020204" pitchFamily="34" charset="0"/>
              </a:rPr>
              <a:t>presented</a:t>
            </a:r>
            <a:r>
              <a:rPr lang="de-DE">
                <a:latin typeface="Arial" panose="020B0604020202020204" pitchFamily="34" charset="0"/>
              </a:rPr>
              <a:t> @CNS SEM:  </a:t>
            </a:r>
            <a:r>
              <a:rPr kumimoji="0" lang="de-DE" altLang="de-DE" sz="1400" b="0" i="0" u="none" strike="noStrike" cap="none" normalizeH="0" baseline="0" err="1">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SEM_CNS_Deliverables</a:t>
            </a:r>
            <a:r>
              <a:rPr kumimoji="0" lang="de-DE" altLang="de-DE" sz="1400" b="0" i="0" u="none" strike="noStrike" cap="none" normalizeH="0" baseline="0">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 and </a:t>
            </a:r>
            <a:r>
              <a:rPr kumimoji="0" lang="de-DE" altLang="de-DE" sz="1400" b="0" i="0" u="none" strike="noStrike" cap="none" normalizeH="0" baseline="0" err="1">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Workpackages</a:t>
            </a:r>
            <a:r>
              <a:rPr kumimoji="0" lang="de-DE" altLang="de-DE" sz="1400" b="0" i="0" u="none" strike="noStrike" cap="none" normalizeH="0" baseline="0">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 </a:t>
            </a:r>
            <a:r>
              <a:rPr kumimoji="0" lang="de-DE" altLang="de-DE" sz="1400" b="0" i="0" u="none" strike="noStrike" cap="none" normalizeH="0" baseline="0" err="1">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ClinPharm</a:t>
            </a:r>
            <a:r>
              <a:rPr kumimoji="0" lang="de-DE" altLang="de-DE" sz="1400" b="0" i="0" u="none" strike="noStrike" cap="none" normalizeH="0" baseline="0">
                <a:ln>
                  <a:noFill/>
                </a:ln>
                <a:solidFill>
                  <a:srgbClr val="076D7E"/>
                </a:solidFill>
                <a:effectLst/>
                <a:latin typeface="Arial" panose="020B0604020202020204" pitchFamily="34" charset="0"/>
                <a:hlinkClick r:id="rId7">
                  <a:extLst>
                    <a:ext uri="{A12FA001-AC4F-418D-AE19-62706E023703}">
                      <ahyp:hlinkClr xmlns:ahyp="http://schemas.microsoft.com/office/drawing/2018/hyperlinkcolor" val="tx"/>
                    </a:ext>
                  </a:extLst>
                </a:hlinkClick>
              </a:rPr>
              <a:t> and PMx_as_presented.pptx</a:t>
            </a:r>
            <a:endParaRPr kumimoji="0" lang="de-DE" altLang="de-DE" sz="1600" b="0" i="0" u="none" strike="noStrike" cap="none" normalizeH="0" baseline="0">
              <a:ln>
                <a:noFill/>
              </a:ln>
              <a:solidFill>
                <a:srgbClr val="076D7E"/>
              </a:solidFill>
              <a:effectLst/>
              <a:latin typeface="Arial" panose="020B0604020202020204" pitchFamily="34" charset="0"/>
            </a:endParaRPr>
          </a:p>
          <a:p>
            <a:pPr lvl="1"/>
            <a:endParaRPr lang="de-DE"/>
          </a:p>
          <a:p>
            <a:pPr marL="216000" lvl="1" indent="0">
              <a:buNone/>
            </a:pPr>
            <a:endParaRPr lang="de-DE"/>
          </a:p>
        </p:txBody>
      </p:sp>
      <p:sp>
        <p:nvSpPr>
          <p:cNvPr id="6" name="Textplatzhalter 5">
            <a:extLst>
              <a:ext uri="{FF2B5EF4-FFF2-40B4-BE49-F238E27FC236}">
                <a16:creationId xmlns:a16="http://schemas.microsoft.com/office/drawing/2014/main" id="{07BEE86F-9976-0ADC-3137-3E82A08D1557}"/>
              </a:ext>
            </a:extLst>
          </p:cNvPr>
          <p:cNvSpPr>
            <a:spLocks noGrp="1"/>
          </p:cNvSpPr>
          <p:nvPr>
            <p:ph type="body" sz="quarter" idx="13"/>
          </p:nvPr>
        </p:nvSpPr>
        <p:spPr/>
        <p:txBody>
          <a:bodyPr/>
          <a:lstStyle/>
          <a:p>
            <a:endParaRPr lang="de-DE"/>
          </a:p>
        </p:txBody>
      </p:sp>
      <p:sp>
        <p:nvSpPr>
          <p:cNvPr id="4" name="Fußzeilenplatzhalter 3">
            <a:extLst>
              <a:ext uri="{FF2B5EF4-FFF2-40B4-BE49-F238E27FC236}">
                <a16:creationId xmlns:a16="http://schemas.microsoft.com/office/drawing/2014/main" id="{4488D89B-2442-5637-B504-D7B594384121}"/>
              </a:ext>
            </a:extLst>
          </p:cNvPr>
          <p:cNvSpPr>
            <a:spLocks noGrp="1"/>
          </p:cNvSpPr>
          <p:nvPr>
            <p:ph type="ftr" sz="quarter" idx="19"/>
          </p:nvPr>
        </p:nvSpPr>
        <p:spPr/>
        <p:txBody>
          <a:bodyPr/>
          <a:lstStyle/>
          <a:p>
            <a:r>
              <a:rPr lang="en-US"/>
              <a:t>ClinPharm Project Overview [target]    |    ONLY FOR INTERNAL USE</a:t>
            </a:r>
          </a:p>
        </p:txBody>
      </p:sp>
      <p:sp>
        <p:nvSpPr>
          <p:cNvPr id="3" name="Foliennummernplatzhalter 2">
            <a:extLst>
              <a:ext uri="{FF2B5EF4-FFF2-40B4-BE49-F238E27FC236}">
                <a16:creationId xmlns:a16="http://schemas.microsoft.com/office/drawing/2014/main" id="{1E097862-3E03-FADE-1554-956593D9417E}"/>
              </a:ext>
            </a:extLst>
          </p:cNvPr>
          <p:cNvSpPr>
            <a:spLocks noGrp="1"/>
          </p:cNvSpPr>
          <p:nvPr>
            <p:ph type="sldNum" sz="quarter" idx="20"/>
          </p:nvPr>
        </p:nvSpPr>
        <p:spPr/>
        <p:txBody>
          <a:bodyPr/>
          <a:lstStyle/>
          <a:p>
            <a:fld id="{DF4E8F9F-5B1F-4F5B-BE49-3245D8C18D9F}" type="slidenum">
              <a:rPr lang="en-US" smtClean="0"/>
              <a:pPr/>
              <a:t>17</a:t>
            </a:fld>
            <a:endParaRPr lang="en-US"/>
          </a:p>
        </p:txBody>
      </p:sp>
    </p:spTree>
    <p:extLst>
      <p:ext uri="{BB962C8B-B14F-4D97-AF65-F5344CB8AC3E}">
        <p14:creationId xmlns:p14="http://schemas.microsoft.com/office/powerpoint/2010/main" val="955313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a:t>xxxx.P01: </a:t>
            </a:r>
            <a:r>
              <a:rPr lang="en-US"/>
              <a:t>BI </a:t>
            </a:r>
            <a:r>
              <a:rPr lang="en-US" err="1"/>
              <a:t>xxxxxxx</a:t>
            </a:r>
            <a:r>
              <a:rPr lang="en-US"/>
              <a:t> PK characteristics</a:t>
            </a:r>
          </a:p>
        </p:txBody>
      </p:sp>
      <p:sp>
        <p:nvSpPr>
          <p:cNvPr id="9" name="Content Placeholder 8"/>
          <p:cNvSpPr>
            <a:spLocks noGrp="1"/>
          </p:cNvSpPr>
          <p:nvPr>
            <p:ph idx="1"/>
          </p:nvPr>
        </p:nvSpPr>
        <p:spPr/>
        <p:txBody>
          <a:bodyPr vert="horz" lIns="0" tIns="0" rIns="0" bIns="0" rtlCol="0" anchor="t">
            <a:noAutofit/>
          </a:bodyPr>
          <a:lstStyle/>
          <a:p>
            <a:pPr marL="0" indent="0">
              <a:lnSpc>
                <a:spcPct val="100000"/>
              </a:lnSpc>
              <a:spcAft>
                <a:spcPts val="0"/>
              </a:spcAft>
              <a:buNone/>
            </a:pPr>
            <a:r>
              <a:rPr lang="en-US">
                <a:cs typeface="Arial"/>
              </a:rPr>
              <a:t>• Absorption: </a:t>
            </a:r>
            <a:endParaRPr lang="en-US"/>
          </a:p>
          <a:p>
            <a:pPr marL="0" indent="0">
              <a:lnSpc>
                <a:spcPct val="100000"/>
              </a:lnSpc>
              <a:spcAft>
                <a:spcPts val="0"/>
              </a:spcAft>
              <a:buNone/>
            </a:pPr>
            <a:r>
              <a:rPr lang="en-US">
                <a:cs typeface="Arial"/>
              </a:rPr>
              <a:t> •Distribution: </a:t>
            </a:r>
            <a:endParaRPr lang="en-US"/>
          </a:p>
          <a:p>
            <a:pPr marL="0" indent="0">
              <a:lnSpc>
                <a:spcPct val="100000"/>
              </a:lnSpc>
              <a:spcAft>
                <a:spcPts val="0"/>
              </a:spcAft>
              <a:buNone/>
            </a:pPr>
            <a:r>
              <a:rPr lang="en-US">
                <a:cs typeface="Arial"/>
              </a:rPr>
              <a:t> •Metabolism:</a:t>
            </a:r>
            <a:endParaRPr lang="en-US"/>
          </a:p>
          <a:p>
            <a:pPr marL="0" indent="0">
              <a:lnSpc>
                <a:spcPct val="100000"/>
              </a:lnSpc>
              <a:spcAft>
                <a:spcPts val="0"/>
              </a:spcAft>
              <a:buNone/>
            </a:pPr>
            <a:r>
              <a:rPr lang="en-US">
                <a:cs typeface="Arial"/>
              </a:rPr>
              <a:t> •Clearance:</a:t>
            </a:r>
            <a:endParaRPr lang="en-US"/>
          </a:p>
          <a:p>
            <a:pPr marL="0" indent="0">
              <a:lnSpc>
                <a:spcPct val="100000"/>
              </a:lnSpc>
              <a:spcAft>
                <a:spcPts val="0"/>
              </a:spcAft>
              <a:buNone/>
            </a:pPr>
            <a:r>
              <a:rPr lang="en-US">
                <a:cs typeface="Arial"/>
              </a:rPr>
              <a:t> •DDI Victim: Predicted to be  CYP3A substrate (F</a:t>
            </a:r>
            <a:r>
              <a:rPr lang="en-US" baseline="-25000">
                <a:cs typeface="Arial"/>
              </a:rPr>
              <a:t>m,CYP3A </a:t>
            </a:r>
            <a:r>
              <a:rPr lang="en-US">
                <a:cs typeface="Arial"/>
              </a:rPr>
              <a:t>~ 0.9: source DMPK report)</a:t>
            </a:r>
            <a:endParaRPr lang="en-US"/>
          </a:p>
          <a:p>
            <a:pPr marL="0" indent="0">
              <a:lnSpc>
                <a:spcPct val="100000"/>
              </a:lnSpc>
              <a:spcAft>
                <a:spcPts val="0"/>
              </a:spcAft>
              <a:buNone/>
            </a:pPr>
            <a:r>
              <a:rPr lang="en-US">
                <a:cs typeface="Arial"/>
              </a:rPr>
              <a:t> •DDI Perpetrator:  NA</a:t>
            </a:r>
            <a:endParaRPr lang="en-US"/>
          </a:p>
          <a:p>
            <a:pPr marL="0" indent="0">
              <a:lnSpc>
                <a:spcPct val="100000"/>
              </a:lnSpc>
              <a:spcAft>
                <a:spcPts val="0"/>
              </a:spcAft>
              <a:buNone/>
            </a:pPr>
            <a:r>
              <a:rPr lang="en-US">
                <a:cs typeface="Arial"/>
              </a:rPr>
              <a:t>   </a:t>
            </a:r>
          </a:p>
        </p:txBody>
      </p:sp>
      <p:sp>
        <p:nvSpPr>
          <p:cNvPr id="2" name="Text Placeholder 1">
            <a:extLst>
              <a:ext uri="{FF2B5EF4-FFF2-40B4-BE49-F238E27FC236}">
                <a16:creationId xmlns:a16="http://schemas.microsoft.com/office/drawing/2014/main" id="{A7F8FA81-705A-FD50-4FD5-5882468A1806}"/>
              </a:ext>
            </a:extLst>
          </p:cNvPr>
          <p:cNvSpPr>
            <a:spLocks noGrp="1"/>
          </p:cNvSpPr>
          <p:nvPr>
            <p:ph type="body" sz="quarter" idx="13"/>
          </p:nvPr>
        </p:nvSpPr>
        <p:spPr/>
        <p:txBody>
          <a:bodyPr/>
          <a:lstStyle/>
          <a:p>
            <a:endParaRPr lang="en-US"/>
          </a:p>
        </p:txBody>
      </p:sp>
      <p:sp>
        <p:nvSpPr>
          <p:cNvPr id="4" name="Footer Placeholder 3"/>
          <p:cNvSpPr>
            <a:spLocks noGrp="1"/>
          </p:cNvSpPr>
          <p:nvPr>
            <p:ph type="ftr" sz="quarter" idx="19"/>
          </p:nvPr>
        </p:nvSpPr>
        <p:spPr/>
        <p:txBody>
          <a:bodyPr/>
          <a:lstStyle/>
          <a:p>
            <a:r>
              <a:rPr lang="en-US" noProof="0"/>
              <a:t>ClinPharm Project Overview [target]    |    ONLY FOR INTERNAL USE</a:t>
            </a:r>
            <a:endParaRPr lang="en-GB" noProof="0"/>
          </a:p>
        </p:txBody>
      </p:sp>
      <p:sp>
        <p:nvSpPr>
          <p:cNvPr id="17" name="Content Placeholder 2"/>
          <p:cNvSpPr txBox="1">
            <a:spLocks/>
          </p:cNvSpPr>
          <p:nvPr/>
        </p:nvSpPr>
        <p:spPr>
          <a:xfrm>
            <a:off x="478367" y="5400481"/>
            <a:ext cx="11245851" cy="1609036"/>
          </a:xfrm>
          <a:prstGeom prst="rect">
            <a:avLst/>
          </a:prstGeom>
        </p:spPr>
        <p:txBody>
          <a:bodyPr vert="horz" lIns="0" tIns="0" rIns="0" bIns="0" rtlCol="0">
            <a:noAutofit/>
          </a:bodyPr>
          <a:lst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de-DE" sz="1333" b="1"/>
          </a:p>
        </p:txBody>
      </p:sp>
      <p:sp>
        <p:nvSpPr>
          <p:cNvPr id="3" name="Foliennummernplatzhalter 2">
            <a:extLst>
              <a:ext uri="{FF2B5EF4-FFF2-40B4-BE49-F238E27FC236}">
                <a16:creationId xmlns:a16="http://schemas.microsoft.com/office/drawing/2014/main" id="{B17D5EE7-1DB5-2C53-E719-E6B1527EF43D}"/>
              </a:ext>
            </a:extLst>
          </p:cNvPr>
          <p:cNvSpPr>
            <a:spLocks noGrp="1"/>
          </p:cNvSpPr>
          <p:nvPr>
            <p:ph type="sldNum" sz="quarter" idx="20"/>
          </p:nvPr>
        </p:nvSpPr>
        <p:spPr/>
        <p:txBody>
          <a:bodyPr/>
          <a:lstStyle/>
          <a:p>
            <a:fld id="{DF4E8F9F-5B1F-4F5B-BE49-3245D8C18D9F}" type="slidenum">
              <a:rPr lang="en-US" smtClean="0"/>
              <a:pPr/>
              <a:t>18</a:t>
            </a:fld>
            <a:endParaRPr lang="en-US"/>
          </a:p>
        </p:txBody>
      </p:sp>
    </p:spTree>
    <p:extLst>
      <p:ext uri="{BB962C8B-B14F-4D97-AF65-F5344CB8AC3E}">
        <p14:creationId xmlns:p14="http://schemas.microsoft.com/office/powerpoint/2010/main" val="19049304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E16DB347BC81C4DB2B3FB3A9051C503" ma:contentTypeVersion="18" ma:contentTypeDescription="Ein neues Dokument erstellen." ma:contentTypeScope="" ma:versionID="b68db79bcf650ac9331e8feb9a2a96bf">
  <xsd:schema xmlns:xsd="http://www.w3.org/2001/XMLSchema" xmlns:xs="http://www.w3.org/2001/XMLSchema" xmlns:p="http://schemas.microsoft.com/office/2006/metadata/properties" xmlns:ns1="http://schemas.microsoft.com/sharepoint/v3" xmlns:ns2="bc416948-881b-4821-a817-088a08ee6306" xmlns:ns3="ce3ec2aa-3625-46ff-9173-ece29478b036" targetNamespace="http://schemas.microsoft.com/office/2006/metadata/properties" ma:root="true" ma:fieldsID="a4924c9d774a61e43979a3fc3066f315" ns1:_="" ns2:_="" ns3:_="">
    <xsd:import namespace="http://schemas.microsoft.com/sharepoint/v3"/>
    <xsd:import namespace="bc416948-881b-4821-a817-088a08ee6306"/>
    <xsd:import namespace="ce3ec2aa-3625-46ff-9173-ece29478b0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ServiceLocation" minOccurs="0"/>
                <xsd:element ref="ns2:MediaLengthInSeconds" minOccurs="0"/>
                <xsd:element ref="ns3:SharedWithUsers" minOccurs="0"/>
                <xsd:element ref="ns3:SharedWithDetails" minOccurs="0"/>
                <xsd:element ref="ns2:MediaServiceSearchPropertie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Eigenschaften der einheitlichen Compliancerichtlinie" ma:hidden="true" ma:internalName="_ip_UnifiedCompliancePolicyProperties">
      <xsd:simpleType>
        <xsd:restriction base="dms:Note"/>
      </xsd:simpleType>
    </xsd:element>
    <xsd:element name="_ip_UnifiedCompliancePolicyUIAction" ma:index="24"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c416948-881b-4821-a817-088a08ee6306"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3ec2aa-3625-46ff-9173-ece29478b0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960f3a4-993a-4e7e-be7e-82995e0ddaa7}" ma:internalName="TaxCatchAll" ma:showField="CatchAllData" ma:web="ce3ec2aa-3625-46ff-9173-ece29478b03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bc416948-881b-4821-a817-088a08ee6306">
      <Terms xmlns="http://schemas.microsoft.com/office/infopath/2007/PartnerControls"/>
    </lcf76f155ced4ddcb4097134ff3c332f>
    <TaxCatchAll xmlns="ce3ec2aa-3625-46ff-9173-ece29478b036"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1222F7-275C-4E95-9EA9-0BD177412E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c416948-881b-4821-a817-088a08ee6306"/>
    <ds:schemaRef ds:uri="ce3ec2aa-3625-46ff-9173-ece29478b0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0AD926-1C5C-4F7A-82C7-04A492D29124}">
  <ds:schemaRefs>
    <ds:schemaRef ds:uri="bc416948-881b-4821-a817-088a08ee6306"/>
    <ds:schemaRef ds:uri="ce3ec2aa-3625-46ff-9173-ece29478b03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2C3F0F1-6A6B-4BEE-BD61-B5DC962FA8C2}">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Boehringer_Ingelheim_Master_1.0</Template>
  <TotalTime>0</TotalTime>
  <Words>1349</Words>
  <Application>Microsoft Office PowerPoint</Application>
  <PresentationFormat>Widescreen</PresentationFormat>
  <Paragraphs>214</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Boehringer Ingelheim 16:9</vt:lpstr>
      <vt:lpstr>General Guidance (Delete, when adapting to your project)</vt:lpstr>
      <vt:lpstr>xxxx.P01 xxxxxx [Indication]</vt:lpstr>
      <vt:lpstr>xxxx.P01: Overview</vt:lpstr>
      <vt:lpstr>Mode of Action (MoA)</vt:lpstr>
      <vt:lpstr>xxxx.P01: Overview - 5 year outlook</vt:lpstr>
      <vt:lpstr>Current Challenges</vt:lpstr>
      <vt:lpstr>Key upcoming inflection points (~ next 12 months)</vt:lpstr>
      <vt:lpstr>Current Challenges</vt:lpstr>
      <vt:lpstr>Translational Plan</vt:lpstr>
      <vt:lpstr>Deliverables</vt:lpstr>
      <vt:lpstr>xxxx.P01: Assessments to enable SOD</vt:lpstr>
      <vt:lpstr>xxxx.P01: Assessments to enable FIM</vt:lpstr>
      <vt:lpstr>xxxx.P01: Assessments to enable PoCP/PoCC</vt:lpstr>
      <vt:lpstr>xxxx.P01: Assessments to enable XYZ</vt:lpstr>
      <vt:lpstr>xxxx.P01: Achievements</vt:lpstr>
      <vt:lpstr>Backup</vt:lpstr>
      <vt:lpstr>Supportive Information/Guidances</vt:lpstr>
      <vt:lpstr>xxxx.P01: BI xxxxxxx PK characteristics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presentation  (in 1-2 lines)</dc:title>
  <dc:creator>Glund,Dr.,Stephan (TMCP ClinPh) BIP-DE-B</dc:creator>
  <dc:description>Optimized for Office 365</dc:description>
  <cp:lastModifiedBy>Runge,Dr.,Frank (TMCP ClinPh) BIP-DE-B</cp:lastModifiedBy>
  <cp:revision>2</cp:revision>
  <dcterms:created xsi:type="dcterms:W3CDTF">2024-12-16T08:21:33Z</dcterms:created>
  <dcterms:modified xsi:type="dcterms:W3CDTF">2026-01-29T13:55:47Z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0x010100BE16DB347BC81C4DB2B3FB3A9051C503</vt:lpwstr>
  </property>
  <property fmtid="{D5CDD505-2E9C-101B-9397-08002B2CF9AE}" pid="3" name="MediaServiceImageTags">
    <vt:lpwstr/>
  </property>
</Properties>
</file>